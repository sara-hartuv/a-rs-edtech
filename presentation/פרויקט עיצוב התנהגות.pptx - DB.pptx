
<file path=[Content_Types].xml><?xml version="1.0" encoding="utf-8"?>
<Types xmlns="http://schemas.openxmlformats.org/package/2006/content-types"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648" r:id="rId1"/>
  </p:sldMasterIdLst>
  <p:sldIdLst>
    <p:sldId id="256" r:id="rId2"/>
    <p:sldId id="257" r:id="rId3"/>
    <p:sldId id="270" r:id="rId4"/>
    <p:sldId id="271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9" r:id="rId16"/>
    <p:sldId id="268" r:id="rId17"/>
    <p:sldId id="272" r:id="rId18"/>
    <p:sldId id="274" r:id="rId19"/>
    <p:sldId id="273" r:id="rId20"/>
  </p:sldIdLst>
  <p:sldSz cx="12192000" cy="6858000"/>
  <p:notesSz cx="6858000" cy="9144000"/>
  <p:defaultTextStyle>
    <a:defPPr>
      <a:defRPr lang="he-IL"/>
    </a:defPPr>
    <a:lvl1pPr marL="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5005" autoAdjust="0"/>
    <p:restoredTop sz="94660"/>
  </p:normalViewPr>
  <p:slideViewPr>
    <p:cSldViewPr snapToGrid="0">
      <p:cViewPr varScale="1">
        <p:scale>
          <a:sx n="81" d="100"/>
          <a:sy n="81" d="100"/>
        </p:scale>
        <p:origin x="754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שקופית כותר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4FB8795D-4D39-2E74-CB0A-389C5F011E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כותרת משנה 2">
            <a:extLst>
              <a:ext uri="{FF2B5EF4-FFF2-40B4-BE49-F238E27FC236}">
                <a16:creationId xmlns:a16="http://schemas.microsoft.com/office/drawing/2014/main" id="{DD13A1CC-FAC8-79B9-4DC4-C6FBAAE4C9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e-IL"/>
              <a:t>לחץ כדי לערוך סגנון כותרת משנה של תבנית בסיס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91B1DF5A-91B3-CBA1-3EB7-C2DC8EC5B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720D4E-0C0F-4E2E-8C0F-9662B8C8873C}" type="datetimeFigureOut">
              <a:rPr lang="he-IL" smtClean="0"/>
              <a:t>כ'/כסלו/תשפ"ו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080DC146-29BC-3E1A-01DD-F620995A6E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0664B88A-11B6-84CB-3A71-37F1EEF4DA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F2B759-E8A7-49C9-B1D5-B5B916C9691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1243626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583437DF-4038-8406-3873-6414014C60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844B5D41-C586-B9AD-96B7-2B08F69A1C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41247D81-59A4-59EF-C5A2-1B67F5DBD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720D4E-0C0F-4E2E-8C0F-9662B8C8873C}" type="datetimeFigureOut">
              <a:rPr lang="he-IL" smtClean="0"/>
              <a:t>כ'/כסלו/תשפ"ו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17501991-73A9-9C6C-255A-CE81D275D2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DC7CCCFA-25F4-F5DD-38DF-8AF6218310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F2B759-E8A7-49C9-B1D5-B5B916C9691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347513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כותרת מקטע עליונ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7D5C08A1-2DE7-0BCA-15B8-954AA56D22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22C6772A-5BDC-923A-2439-D8E14BC9D8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666EDD68-7C7B-F59A-3BC7-1EF3C35BF3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720D4E-0C0F-4E2E-8C0F-9662B8C8873C}" type="datetimeFigureOut">
              <a:rPr lang="he-IL" smtClean="0"/>
              <a:t>כ'/כסלו/תשפ"ו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6FE60E39-E5BC-E793-8E5D-E056FB694E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F958ED1B-53B7-7E44-88BB-98DEA5034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F2B759-E8A7-49C9-B1D5-B5B916C9691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2024546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43D6D480-C4B0-9A9B-7481-D7DAC66E8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D891E29D-D652-6428-1BF3-2828DFA0CCB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תוכן 3">
            <a:extLst>
              <a:ext uri="{FF2B5EF4-FFF2-40B4-BE49-F238E27FC236}">
                <a16:creationId xmlns:a16="http://schemas.microsoft.com/office/drawing/2014/main" id="{5AAC6B7D-9191-FB5C-0076-0386BC134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575EF266-1585-E9FB-8F45-9D17F27B3A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720D4E-0C0F-4E2E-8C0F-9662B8C8873C}" type="datetimeFigureOut">
              <a:rPr lang="he-IL" smtClean="0"/>
              <a:t>כ'/כסלו/תשפ"ו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375169E7-4294-BB72-D4F7-EC5C7D2CC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9EDCC8FA-C9FF-F372-179D-61A8345BB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F2B759-E8A7-49C9-B1D5-B5B916C9691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8157869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השווא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58EF464B-A949-EDC6-F25A-CC25F413C8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042D80D1-1B37-281D-B1A9-14DBE951E7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תוכן 3">
            <a:extLst>
              <a:ext uri="{FF2B5EF4-FFF2-40B4-BE49-F238E27FC236}">
                <a16:creationId xmlns:a16="http://schemas.microsoft.com/office/drawing/2014/main" id="{BB1CBAA4-6C59-90DB-578E-480C65471B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5" name="מציין מיקום טקסט 4">
            <a:extLst>
              <a:ext uri="{FF2B5EF4-FFF2-40B4-BE49-F238E27FC236}">
                <a16:creationId xmlns:a16="http://schemas.microsoft.com/office/drawing/2014/main" id="{DECD243E-0987-F782-1610-507B546ECAD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6" name="מציין מיקום תוכן 5">
            <a:extLst>
              <a:ext uri="{FF2B5EF4-FFF2-40B4-BE49-F238E27FC236}">
                <a16:creationId xmlns:a16="http://schemas.microsoft.com/office/drawing/2014/main" id="{969B44E4-85D1-A2CB-C3D6-65DC0B2DC7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7" name="מציין מיקום של תאריך 6">
            <a:extLst>
              <a:ext uri="{FF2B5EF4-FFF2-40B4-BE49-F238E27FC236}">
                <a16:creationId xmlns:a16="http://schemas.microsoft.com/office/drawing/2014/main" id="{92FFADBF-6E3D-82BE-55BE-CE8341446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720D4E-0C0F-4E2E-8C0F-9662B8C8873C}" type="datetimeFigureOut">
              <a:rPr lang="he-IL" smtClean="0"/>
              <a:t>כ'/כסלו/תשפ"ו</a:t>
            </a:fld>
            <a:endParaRPr lang="he-IL"/>
          </a:p>
        </p:txBody>
      </p:sp>
      <p:sp>
        <p:nvSpPr>
          <p:cNvPr id="8" name="מציין מיקום של כותרת תחתונה 7">
            <a:extLst>
              <a:ext uri="{FF2B5EF4-FFF2-40B4-BE49-F238E27FC236}">
                <a16:creationId xmlns:a16="http://schemas.microsoft.com/office/drawing/2014/main" id="{624E7C43-B7E5-F407-0B6F-1F258B628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מציין מיקום של מספר שקופית 8">
            <a:extLst>
              <a:ext uri="{FF2B5EF4-FFF2-40B4-BE49-F238E27FC236}">
                <a16:creationId xmlns:a16="http://schemas.microsoft.com/office/drawing/2014/main" id="{E5441FF1-421A-32CF-935C-BCFEC61D9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F2B759-E8A7-49C9-B1D5-B5B916C9691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1167156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כותרת בלב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3D330B01-A996-93D4-A885-281DC8824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תאריך 2">
            <a:extLst>
              <a:ext uri="{FF2B5EF4-FFF2-40B4-BE49-F238E27FC236}">
                <a16:creationId xmlns:a16="http://schemas.microsoft.com/office/drawing/2014/main" id="{4143E3D8-C263-B6DD-7E6C-135B4D9F50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720D4E-0C0F-4E2E-8C0F-9662B8C8873C}" type="datetimeFigureOut">
              <a:rPr lang="he-IL" smtClean="0"/>
              <a:t>כ'/כסלו/תשפ"ו</a:t>
            </a:fld>
            <a:endParaRPr lang="he-IL"/>
          </a:p>
        </p:txBody>
      </p:sp>
      <p:sp>
        <p:nvSpPr>
          <p:cNvPr id="4" name="מציין מיקום של כותרת תחתונה 3">
            <a:extLst>
              <a:ext uri="{FF2B5EF4-FFF2-40B4-BE49-F238E27FC236}">
                <a16:creationId xmlns:a16="http://schemas.microsoft.com/office/drawing/2014/main" id="{86B3675D-B5DD-A9A4-68AE-CEE5043747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מציין מיקום של מספר שקופית 4">
            <a:extLst>
              <a:ext uri="{FF2B5EF4-FFF2-40B4-BE49-F238E27FC236}">
                <a16:creationId xmlns:a16="http://schemas.microsoft.com/office/drawing/2014/main" id="{79C9B035-601F-2101-B511-97D857BE60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F2B759-E8A7-49C9-B1D5-B5B916C9691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5627027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רי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>
            <a:extLst>
              <a:ext uri="{FF2B5EF4-FFF2-40B4-BE49-F238E27FC236}">
                <a16:creationId xmlns:a16="http://schemas.microsoft.com/office/drawing/2014/main" id="{67BA973C-CB15-40AF-5856-9EA9C7084D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720D4E-0C0F-4E2E-8C0F-9662B8C8873C}" type="datetimeFigureOut">
              <a:rPr lang="he-IL" smtClean="0"/>
              <a:t>כ'/כסלו/תשפ"ו</a:t>
            </a:fld>
            <a:endParaRPr lang="he-IL"/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A3BC5C35-D315-6E3E-139C-8E1B6DCCE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272F4B48-0505-EFA2-86AA-44F9023885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F2B759-E8A7-49C9-B1D5-B5B916C9691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0346094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תוכן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9E119517-F1A8-FF56-B6F6-F4741AB822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911E3CE6-CC31-6B68-FC2F-56942A8965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טקסט 3">
            <a:extLst>
              <a:ext uri="{FF2B5EF4-FFF2-40B4-BE49-F238E27FC236}">
                <a16:creationId xmlns:a16="http://schemas.microsoft.com/office/drawing/2014/main" id="{DF0CA528-563A-B4C3-87FB-0EFDDA14ED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05EB9AB2-C6EF-D056-193E-031399FCCE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720D4E-0C0F-4E2E-8C0F-9662B8C8873C}" type="datetimeFigureOut">
              <a:rPr lang="he-IL" smtClean="0"/>
              <a:t>כ'/כסלו/תשפ"ו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06B9B173-0594-A89D-BC9E-60E8349695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443317EC-086C-2AAF-C6A3-A58585565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F2B759-E8A7-49C9-B1D5-B5B916C9691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6900134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תמונה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C209221A-F8A6-BFB6-7910-C911FD50C9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תמונה 2">
            <a:extLst>
              <a:ext uri="{FF2B5EF4-FFF2-40B4-BE49-F238E27FC236}">
                <a16:creationId xmlns:a16="http://schemas.microsoft.com/office/drawing/2014/main" id="{06DB79E2-39EB-E638-6573-322862341FD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/>
          </a:p>
        </p:txBody>
      </p:sp>
      <p:sp>
        <p:nvSpPr>
          <p:cNvPr id="4" name="מציין מיקום טקסט 3">
            <a:extLst>
              <a:ext uri="{FF2B5EF4-FFF2-40B4-BE49-F238E27FC236}">
                <a16:creationId xmlns:a16="http://schemas.microsoft.com/office/drawing/2014/main" id="{BD81598D-FE45-ABB9-2334-048C994018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03C76F45-3088-A22D-31A5-F72F481B6C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720D4E-0C0F-4E2E-8C0F-9662B8C8873C}" type="datetimeFigureOut">
              <a:rPr lang="he-IL" smtClean="0"/>
              <a:t>כ'/כסלו/תשפ"ו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F7593085-05C1-D454-FE4E-CA31671B9B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7FB71B1F-5732-51F7-21BE-826E1D5DF8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F2B759-E8A7-49C9-B1D5-B5B916C9691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1073037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כותרת וטקסט אנכ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A2CD98C0-A073-B6AF-DC3B-04724DC35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טקסט אנכי 2">
            <a:extLst>
              <a:ext uri="{FF2B5EF4-FFF2-40B4-BE49-F238E27FC236}">
                <a16:creationId xmlns:a16="http://schemas.microsoft.com/office/drawing/2014/main" id="{DDCA2F62-04AA-7C23-F759-92077B8FF8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0ADDD5E5-75E2-9297-F434-F7D42D5F26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720D4E-0C0F-4E2E-8C0F-9662B8C8873C}" type="datetimeFigureOut">
              <a:rPr lang="he-IL" smtClean="0"/>
              <a:t>כ'/כסלו/תשפ"ו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8A98BA02-0DCC-4E37-E34D-E3B25B888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42B23573-B2A1-7CBF-5C4D-EE3B2E97F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F2B759-E8A7-49C9-B1D5-B5B916C9691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6315921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כותרת אנכית וטקס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אנכית 1">
            <a:extLst>
              <a:ext uri="{FF2B5EF4-FFF2-40B4-BE49-F238E27FC236}">
                <a16:creationId xmlns:a16="http://schemas.microsoft.com/office/drawing/2014/main" id="{7C63796D-2ACC-1DB4-810B-F65248A3D0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טקסט אנכי 2">
            <a:extLst>
              <a:ext uri="{FF2B5EF4-FFF2-40B4-BE49-F238E27FC236}">
                <a16:creationId xmlns:a16="http://schemas.microsoft.com/office/drawing/2014/main" id="{E8E56480-3C6E-14FE-83AB-265E6F6620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764841D3-C498-FD42-F4A5-2AEE0FDC78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720D4E-0C0F-4E2E-8C0F-9662B8C8873C}" type="datetimeFigureOut">
              <a:rPr lang="he-IL" smtClean="0"/>
              <a:t>כ'/כסלו/תשפ"ו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C354A95E-2538-4D0C-6623-70761AE28B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F7491C49-3085-2025-1483-39EC937939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F2B759-E8A7-49C9-B1D5-B5B916C9691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5982364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1">
            <a:extLst>
              <a:ext uri="{FF2B5EF4-FFF2-40B4-BE49-F238E27FC236}">
                <a16:creationId xmlns:a16="http://schemas.microsoft.com/office/drawing/2014/main" id="{FF266909-026B-5021-B439-C14C485CB6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1" anchor="ctr">
            <a:normAutofit/>
          </a:bodyPr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4D64CF7A-68B6-44DA-DE56-B151C7B005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1">
            <a:normAutofit/>
          </a:bodyPr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19DDC6DD-5C74-673D-E18A-284E813764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720D4E-0C0F-4E2E-8C0F-9662B8C8873C}" type="datetimeFigureOut">
              <a:rPr lang="he-IL" smtClean="0"/>
              <a:t>כ'/כסלו/תשפ"ו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A12B4966-7F76-F5F8-80A0-D027A3F041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8F33D8D0-47E4-59B8-CC2E-78BBA0BB10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F2B759-E8A7-49C9-B1D5-B5B916C9691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947715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 defTabSz="914400" rtl="1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r" defTabSz="914400" rtl="1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021FAB91-5837-42D6-703D-E941CA17D9F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e-IL" dirty="0"/>
              <a:t>פרויקט עיצוב התנהגות</a:t>
            </a:r>
          </a:p>
        </p:txBody>
      </p:sp>
      <p:sp>
        <p:nvSpPr>
          <p:cNvPr id="3" name="כותרת משנה 2">
            <a:extLst>
              <a:ext uri="{FF2B5EF4-FFF2-40B4-BE49-F238E27FC236}">
                <a16:creationId xmlns:a16="http://schemas.microsoft.com/office/drawing/2014/main" id="{9ED16EAE-8CB0-AC5B-3CE3-61043D2E549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err="1"/>
              <a:t>DataBase</a:t>
            </a:r>
            <a:endParaRPr lang="he-IL" dirty="0"/>
          </a:p>
        </p:txBody>
      </p:sp>
      <p:pic>
        <p:nvPicPr>
          <p:cNvPr id="5" name="תמונה 4">
            <a:extLst>
              <a:ext uri="{FF2B5EF4-FFF2-40B4-BE49-F238E27FC236}">
                <a16:creationId xmlns:a16="http://schemas.microsoft.com/office/drawing/2014/main" id="{00E49E83-B8F5-C684-C575-B1ABACB2DE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873558"/>
            <a:ext cx="3656804" cy="3899767"/>
          </a:xfrm>
          <a:prstGeom prst="rect">
            <a:avLst/>
          </a:prstGeom>
        </p:spPr>
      </p:pic>
      <p:sp>
        <p:nvSpPr>
          <p:cNvPr id="6" name="מלבן 5">
            <a:extLst>
              <a:ext uri="{FF2B5EF4-FFF2-40B4-BE49-F238E27FC236}">
                <a16:creationId xmlns:a16="http://schemas.microsoft.com/office/drawing/2014/main" id="{DEEFEB4F-D0A5-D309-440C-CA26C5660A1A}"/>
              </a:ext>
            </a:extLst>
          </p:cNvPr>
          <p:cNvSpPr/>
          <p:nvPr/>
        </p:nvSpPr>
        <p:spPr>
          <a:xfrm>
            <a:off x="7393646" y="4475623"/>
            <a:ext cx="3946914" cy="196977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radley Hand ITC" panose="03070402050302030203" pitchFamily="66" charset="0"/>
                <a:cs typeface="Guttman Yad-Brush" panose="02010401010101010101" pitchFamily="2" charset="-79"/>
              </a:rPr>
              <a:t>Sara Hartuv</a:t>
            </a:r>
          </a:p>
          <a:p>
            <a:pPr algn="ctr"/>
            <a:r>
              <a:rPr lang="en-US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radley Hand ITC" panose="03070402050302030203" pitchFamily="66" charset="0"/>
              </a:rPr>
              <a:t>sarahartuv1@gmail.com</a:t>
            </a:r>
            <a:r>
              <a:rPr lang="en-US" sz="24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radley Hand ITC" panose="03070402050302030203" pitchFamily="66" charset="0"/>
                <a:cs typeface="Guttman Yad-Brush" panose="02010401010101010101" pitchFamily="2" charset="-79"/>
              </a:rPr>
              <a:t> </a:t>
            </a:r>
          </a:p>
          <a:p>
            <a:pPr algn="ctr"/>
            <a:r>
              <a:rPr lang="en-US" sz="4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radley Hand ITC" panose="03070402050302030203" pitchFamily="66" charset="0"/>
                <a:cs typeface="Guttman Yad-Brush" panose="02010401010101010101" pitchFamily="2" charset="-79"/>
              </a:rPr>
              <a:t>10/12/25</a:t>
            </a:r>
            <a:endParaRPr lang="he-IL" sz="40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Bradley Hand ITC" panose="03070402050302030203" pitchFamily="66" charset="0"/>
              <a:cs typeface="Guttman Yad-Brush" panose="02010401010101010101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2855334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E664B661-D182-F328-04B8-B0C9E0A5B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dirty="0"/>
              <a:t>ניהול </a:t>
            </a:r>
            <a:r>
              <a:rPr lang="he-IL" dirty="0" err="1"/>
              <a:t>הדטה</a:t>
            </a:r>
            <a:r>
              <a:rPr lang="he-IL" dirty="0"/>
              <a:t> </a:t>
            </a:r>
            <a:r>
              <a:rPr lang="he-IL" dirty="0" err="1"/>
              <a:t>בייס</a:t>
            </a:r>
            <a:endParaRPr lang="he-IL" dirty="0"/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4E9F72A2-4FC3-B3DC-0F9F-BF6A76DAEC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he-IL" b="1" dirty="0"/>
              <a:t>סוג בסיס הנתונים:</a:t>
            </a:r>
          </a:p>
          <a:p>
            <a:r>
              <a:rPr lang="he-IL" dirty="0"/>
              <a:t>המערכת משתמשת ב־</a:t>
            </a:r>
            <a:r>
              <a:rPr lang="en-US" dirty="0"/>
              <a:t> MongoDB – </a:t>
            </a:r>
            <a:r>
              <a:rPr lang="he-IL" dirty="0"/>
              <a:t>בסיס נתונים </a:t>
            </a:r>
            <a:r>
              <a:rPr lang="en-US" dirty="0"/>
              <a:t> NoSQL </a:t>
            </a:r>
            <a:r>
              <a:rPr lang="he-IL" dirty="0"/>
              <a:t>מבוסס מסמכים </a:t>
            </a:r>
            <a:r>
              <a:rPr lang="en-US" dirty="0"/>
              <a:t>(Document Oriented)</a:t>
            </a:r>
            <a:r>
              <a:rPr lang="he-IL" dirty="0"/>
              <a:t>.</a:t>
            </a:r>
          </a:p>
          <a:p>
            <a:pPr marL="0" indent="0">
              <a:buNone/>
            </a:pPr>
            <a:r>
              <a:rPr lang="he-IL" b="1" dirty="0"/>
              <a:t>בחירה זו מאפשרת:</a:t>
            </a:r>
          </a:p>
          <a:p>
            <a:r>
              <a:rPr lang="he-IL" dirty="0"/>
              <a:t>גמישות גבוהה בהוספת שדות חדשים לאורך חיי הפרויקט.</a:t>
            </a:r>
          </a:p>
          <a:p>
            <a:r>
              <a:rPr lang="he-IL" dirty="0"/>
              <a:t>עבודה טבעית עם מבני נתונים מורכבים כמו רשימות, אובייקטים וקשרים בין טבלאות.</a:t>
            </a:r>
          </a:p>
          <a:p>
            <a:r>
              <a:rPr lang="he-IL" dirty="0"/>
              <a:t>ביצועים טובים במערכת שבה קיימים הרבה מסמכים ומידע משתנה לפי תפקידים ופעולות.</a:t>
            </a:r>
          </a:p>
          <a:p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42245251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6EAB64E0-D58D-FCCB-C14C-62C4F4388D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dirty="0"/>
              <a:t>עקרונות מבנה ה </a:t>
            </a:r>
            <a:r>
              <a:rPr lang="en-US" dirty="0"/>
              <a:t>DB</a:t>
            </a:r>
            <a:r>
              <a:rPr lang="he-IL" dirty="0"/>
              <a:t> 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06C033F8-1AD3-6BB5-0A19-19DE844813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he-IL" b="1" dirty="0"/>
              <a:t>מבנה מבוסס קולקציות </a:t>
            </a:r>
            <a:r>
              <a:rPr lang="en-US" b="1" dirty="0"/>
              <a:t>Collections)</a:t>
            </a:r>
            <a:r>
              <a:rPr lang="he-IL" b="1" dirty="0"/>
              <a:t>)</a:t>
            </a:r>
            <a:br>
              <a:rPr lang="en-US" dirty="0"/>
            </a:br>
            <a:r>
              <a:rPr lang="he-IL" dirty="0"/>
              <a:t>כל ישות משמעותית במערכת נשמרת בקולקציה נפרדת לדוגמה:</a:t>
            </a:r>
            <a:br>
              <a:rPr lang="he-IL" dirty="0"/>
            </a:br>
            <a:r>
              <a:rPr lang="en-US" i="1" dirty="0"/>
              <a:t>Users</a:t>
            </a:r>
            <a:r>
              <a:rPr lang="en-US" dirty="0"/>
              <a:t>, </a:t>
            </a:r>
            <a:r>
              <a:rPr lang="en-US" i="1" dirty="0"/>
              <a:t>Products</a:t>
            </a:r>
            <a:r>
              <a:rPr lang="en-US" dirty="0"/>
              <a:t>, </a:t>
            </a:r>
            <a:r>
              <a:rPr lang="en-US" i="1" dirty="0"/>
              <a:t>Orders</a:t>
            </a:r>
            <a:r>
              <a:rPr lang="en-US" dirty="0"/>
              <a:t>, </a:t>
            </a:r>
            <a:r>
              <a:rPr lang="en-US" i="1" dirty="0"/>
              <a:t>Categories</a:t>
            </a:r>
            <a:r>
              <a:rPr lang="en-US" dirty="0"/>
              <a:t>, </a:t>
            </a:r>
            <a:r>
              <a:rPr lang="en-US" i="1" dirty="0"/>
              <a:t>Periods</a:t>
            </a:r>
            <a:r>
              <a:rPr lang="en-US" dirty="0"/>
              <a:t>, </a:t>
            </a:r>
            <a:r>
              <a:rPr lang="en-US" i="1" dirty="0"/>
              <a:t>Settings</a:t>
            </a:r>
            <a:r>
              <a:rPr lang="en-US" dirty="0"/>
              <a:t>, </a:t>
            </a:r>
            <a:r>
              <a:rPr lang="en-US" i="1" dirty="0"/>
              <a:t>Ideas</a:t>
            </a:r>
            <a:r>
              <a:rPr lang="he-IL" i="1" dirty="0"/>
              <a:t>.</a:t>
            </a:r>
            <a:endParaRPr lang="en-US" dirty="0"/>
          </a:p>
          <a:p>
            <a:r>
              <a:rPr lang="he-IL" b="1" dirty="0"/>
              <a:t>קשרים בין ישויות באמצעות </a:t>
            </a:r>
            <a:r>
              <a:rPr lang="en-US" b="1" dirty="0" err="1"/>
              <a:t>ObjectId</a:t>
            </a:r>
            <a:br>
              <a:rPr lang="en-US" dirty="0"/>
            </a:br>
            <a:r>
              <a:rPr lang="he-IL" dirty="0"/>
              <a:t>במקום לשכפל מידע, נשמרים קישורים בין המסמכים.</a:t>
            </a:r>
            <a:br>
              <a:rPr lang="he-IL" dirty="0"/>
            </a:br>
            <a:r>
              <a:rPr lang="he-IL" dirty="0"/>
              <a:t>לדוגמה: הזמנה מקושרת לתלמידה ולמוצרים דרך מזהים.</a:t>
            </a:r>
          </a:p>
          <a:p>
            <a:r>
              <a:rPr lang="he-IL" b="1" dirty="0"/>
              <a:t>תמיכה במבנה </a:t>
            </a:r>
            <a:r>
              <a:rPr lang="en-US" b="1" dirty="0"/>
              <a:t>Role-Based Access</a:t>
            </a:r>
            <a:br>
              <a:rPr lang="en-US" dirty="0"/>
            </a:br>
            <a:r>
              <a:rPr lang="he-IL" dirty="0"/>
              <a:t>מבנה המשתמשים כולל שדה המגדיר תפקיד (מורה / תלמידה / מנהלת),</a:t>
            </a:r>
            <a:br>
              <a:rPr lang="he-IL" dirty="0"/>
            </a:br>
            <a:r>
              <a:rPr lang="he-IL" dirty="0"/>
              <a:t>ומאפשר בניית לוגיקה של הרשאות וגישה למידע בהתאם לתפקיד.</a:t>
            </a:r>
          </a:p>
          <a:p>
            <a:r>
              <a:rPr lang="he-IL" b="1" dirty="0"/>
              <a:t>תמיכה בזרימת עבודה </a:t>
            </a:r>
            <a:r>
              <a:rPr lang="en-US" b="1" dirty="0"/>
              <a:t>Workflows)</a:t>
            </a:r>
            <a:r>
              <a:rPr lang="he-IL" b="1" dirty="0"/>
              <a:t>)</a:t>
            </a:r>
            <a:br>
              <a:rPr lang="en-US" dirty="0"/>
            </a:br>
            <a:r>
              <a:rPr lang="he-IL" dirty="0"/>
              <a:t>חלק מהקולקציות כוללות שדות סטטוס לדוגמה:</a:t>
            </a:r>
            <a:br>
              <a:rPr lang="he-IL" dirty="0"/>
            </a:br>
            <a:r>
              <a:rPr lang="he-IL" dirty="0"/>
              <a:t>הזמנה יכולה להיות </a:t>
            </a:r>
            <a:r>
              <a:rPr lang="en-US" i="1" dirty="0"/>
              <a:t>draft / </a:t>
            </a:r>
            <a:r>
              <a:rPr lang="en-US" i="1" dirty="0" err="1"/>
              <a:t>pendingApproval</a:t>
            </a:r>
            <a:r>
              <a:rPr lang="en-US" i="1" dirty="0"/>
              <a:t> / approved / delivered</a:t>
            </a:r>
            <a:r>
              <a:rPr lang="he-IL" i="1" dirty="0"/>
              <a:t>.</a:t>
            </a:r>
            <a:br>
              <a:rPr lang="en-US" dirty="0"/>
            </a:br>
            <a:r>
              <a:rPr lang="he-IL" dirty="0"/>
              <a:t>גם הצעות המוצרים </a:t>
            </a:r>
            <a:r>
              <a:rPr lang="en-US" i="1" dirty="0"/>
              <a:t>Ideas</a:t>
            </a:r>
            <a:r>
              <a:rPr lang="en-US" dirty="0"/>
              <a:t>)</a:t>
            </a:r>
            <a:r>
              <a:rPr lang="he-IL" dirty="0"/>
              <a:t>) כוללות סטטוסים לניהול תהליכי אישור.</a:t>
            </a:r>
          </a:p>
          <a:p>
            <a:r>
              <a:rPr lang="he-IL" b="1" dirty="0"/>
              <a:t>שמירה על היסטוריה ונתוני מעקב</a:t>
            </a:r>
            <a:br>
              <a:rPr lang="he-IL" dirty="0"/>
            </a:br>
            <a:r>
              <a:rPr lang="he-IL" dirty="0"/>
              <a:t>כל המסמכים מכילים </a:t>
            </a:r>
            <a:r>
              <a:rPr lang="en-US" i="1" dirty="0" err="1"/>
              <a:t>createdAt</a:t>
            </a:r>
            <a:r>
              <a:rPr lang="en-US" dirty="0"/>
              <a:t> </a:t>
            </a:r>
            <a:r>
              <a:rPr lang="he-IL" dirty="0"/>
              <a:t> ,</a:t>
            </a:r>
            <a:r>
              <a:rPr lang="en-US" i="1" dirty="0" err="1"/>
              <a:t>updatedAt</a:t>
            </a:r>
            <a:r>
              <a:rPr lang="en-US" dirty="0"/>
              <a:t> </a:t>
            </a:r>
            <a:r>
              <a:rPr lang="he-IL" dirty="0"/>
              <a:t> לצורך מעקב פעילות וניהול לוגים.</a:t>
            </a:r>
          </a:p>
          <a:p>
            <a:r>
              <a:rPr lang="he-IL" b="1" dirty="0"/>
              <a:t>תמיכה במלאי ודינמיות במוצרים</a:t>
            </a:r>
            <a:br>
              <a:rPr lang="he-IL" dirty="0"/>
            </a:br>
            <a:r>
              <a:rPr lang="he-IL" dirty="0"/>
              <a:t>לכל מוצר נשמרים </a:t>
            </a:r>
            <a:r>
              <a:rPr lang="en-US" i="1" dirty="0"/>
              <a:t>stock</a:t>
            </a:r>
            <a:r>
              <a:rPr lang="en-US" dirty="0"/>
              <a:t>, </a:t>
            </a:r>
            <a:r>
              <a:rPr lang="en-US" i="1" dirty="0" err="1"/>
              <a:t>costInVouchers</a:t>
            </a:r>
            <a:r>
              <a:rPr lang="en-US" dirty="0"/>
              <a:t>, </a:t>
            </a:r>
            <a:r>
              <a:rPr lang="en-US" i="1" dirty="0" err="1"/>
              <a:t>purchasesCount</a:t>
            </a:r>
            <a:r>
              <a:rPr lang="en-US" dirty="0"/>
              <a:t>, </a:t>
            </a:r>
            <a:r>
              <a:rPr lang="he-IL" dirty="0"/>
              <a:t> ועוד,</a:t>
            </a:r>
            <a:br>
              <a:rPr lang="he-IL" dirty="0"/>
            </a:br>
            <a:r>
              <a:rPr lang="he-IL" dirty="0"/>
              <a:t>מה שמאפשר קבלת החלטות ניהוליות ומעקב אמיתי אחר צריכה.</a:t>
            </a:r>
          </a:p>
          <a:p>
            <a:r>
              <a:rPr lang="he-IL" b="1" dirty="0"/>
              <a:t>הפרדת הגדרות מערכת בקולקציית </a:t>
            </a:r>
            <a:r>
              <a:rPr lang="en-US" b="1" dirty="0"/>
              <a:t>Settings</a:t>
            </a:r>
            <a:br>
              <a:rPr lang="en-US" dirty="0"/>
            </a:br>
            <a:r>
              <a:rPr lang="he-IL" dirty="0"/>
              <a:t>לצורך גמישות בעדכון כללי המערכת ללא שינויי קוד:</a:t>
            </a:r>
            <a:br>
              <a:rPr lang="he-IL" dirty="0"/>
            </a:br>
            <a:r>
              <a:rPr lang="he-IL" dirty="0"/>
              <a:t>זמני פתיחה/סגירה של האתר, כללים לרכישות, יחס נקודות-שובר ועוד.</a:t>
            </a:r>
          </a:p>
          <a:p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8556263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3C3C6617-AC9A-733B-5BF1-411F65E28B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dirty="0"/>
              <a:t>איך המבנה תומך במערכת בפועל ?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8FBBFEBF-F67B-B38F-A5C5-44B9D690C8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e-IL" dirty="0"/>
              <a:t>מאפשר גישה מידע מותאמת לתפקיד.</a:t>
            </a:r>
          </a:p>
          <a:p>
            <a:r>
              <a:rPr lang="he-IL" dirty="0"/>
              <a:t>תומך בתהליכים כמו צבירת נקודות, רכישת מוצרים והפקת הזמנות.</a:t>
            </a:r>
          </a:p>
          <a:p>
            <a:r>
              <a:rPr lang="he-IL" dirty="0"/>
              <a:t>מאפשר לנהל מלאי, אישורים, תקופות, וסנכרון בין מורות לצוות ניהולי.</a:t>
            </a:r>
          </a:p>
          <a:p>
            <a:r>
              <a:rPr lang="he-IL" dirty="0"/>
              <a:t>מאפשר להתרחב בקלות בעתיד — הוספת מודולים חדשים בלי לשבור את המבנה.</a:t>
            </a:r>
          </a:p>
          <a:p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22584688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7F577759-F8FB-B60A-0E34-8C7690115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dirty="0"/>
              <a:t>סוגי משתמשים 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E803EA27-E134-E38B-58CE-B9E8354F50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he-IL" dirty="0"/>
              <a:t>ישנם 3 סוגי משתמשים במערכת : </a:t>
            </a:r>
          </a:p>
          <a:p>
            <a:pPr marL="0" indent="0">
              <a:buNone/>
            </a:pPr>
            <a:r>
              <a:rPr lang="he-IL" dirty="0"/>
              <a:t> 	מורות </a:t>
            </a:r>
          </a:p>
          <a:p>
            <a:pPr marL="0" indent="0">
              <a:buNone/>
            </a:pPr>
            <a:r>
              <a:rPr lang="he-IL" dirty="0"/>
              <a:t>	תלמידות 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	</a:t>
            </a:r>
            <a:r>
              <a:rPr lang="he-IL" dirty="0"/>
              <a:t>צוות ניהולי </a:t>
            </a:r>
          </a:p>
          <a:p>
            <a:pPr marL="0" indent="0">
              <a:buNone/>
            </a:pPr>
            <a:r>
              <a:rPr lang="he-IL" dirty="0"/>
              <a:t>לכל תפקיד במערכת קיימת גישה רק לאזורי האחריות שלו. בנוסף, תפקידים בדרגה גבוהה יותר מקבלים גם הרשאות גישה לאזורים נוספים.</a:t>
            </a:r>
            <a:br>
              <a:rPr lang="he-IL" dirty="0"/>
            </a:br>
            <a:r>
              <a:rPr lang="he-IL" dirty="0"/>
              <a:t>לדוגמה: הצוות הניהולי יכול להיכנס לאזור הניהול, וגם לאזור של המורות ושל התלמידות.</a:t>
            </a:r>
            <a:br>
              <a:rPr lang="he-IL" dirty="0"/>
            </a:br>
            <a:r>
              <a:rPr lang="he-IL" dirty="0"/>
              <a:t>המורות יכולות להיכנס רק לאזורי המורות (ואולי לאזורי משנה לפי הצורך).</a:t>
            </a:r>
            <a:br>
              <a:rPr lang="he-IL" dirty="0"/>
            </a:br>
            <a:r>
              <a:rPr lang="he-IL" dirty="0"/>
              <a:t>התלמידות מקבלות גישה אך ורק לאזור התלמידות — ללא גישה לאזורי המורות או הניהול.</a:t>
            </a:r>
          </a:p>
        </p:txBody>
      </p:sp>
    </p:spTree>
    <p:extLst>
      <p:ext uri="{BB962C8B-B14F-4D97-AF65-F5344CB8AC3E}">
        <p14:creationId xmlns:p14="http://schemas.microsoft.com/office/powerpoint/2010/main" val="39719446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E1380029-F44D-CF56-9C81-9CDF79E27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dirty="0"/>
              <a:t>טבלת משתמשים - </a:t>
            </a:r>
            <a:r>
              <a:rPr lang="en-US" dirty="0"/>
              <a:t>Users</a:t>
            </a:r>
            <a:r>
              <a:rPr lang="he-IL" dirty="0"/>
              <a:t> </a:t>
            </a:r>
          </a:p>
        </p:txBody>
      </p:sp>
      <p:graphicFrame>
        <p:nvGraphicFramePr>
          <p:cNvPr id="4" name="Table 2">
            <a:extLst>
              <a:ext uri="{FF2B5EF4-FFF2-40B4-BE49-F238E27FC236}">
                <a16:creationId xmlns:a16="http://schemas.microsoft.com/office/drawing/2014/main" id="{809FBCB5-0487-CE81-EBAC-5954DD6D35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7755109"/>
              </p:ext>
            </p:extLst>
          </p:nvPr>
        </p:nvGraphicFramePr>
        <p:xfrm>
          <a:off x="794117" y="1786036"/>
          <a:ext cx="10515600" cy="49297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73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1053"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Property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Notes / K</a:t>
                      </a:r>
                      <a:r>
                        <a:rPr lang="en-US" dirty="0"/>
                        <a:t>eys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Number(PK)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dirty="0"/>
                        <a:t>Primary Key</a:t>
                      </a:r>
                      <a:r>
                        <a:rPr lang="he-IL" dirty="0"/>
                        <a:t> נוצר אוטומטית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name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String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passwordHasH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String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he-IL" dirty="0"/>
                        <a:t>הסיסמא נשמרת במסד הנתונים בצורה מוצפנת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role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String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Enum: [“student, teacher, admin”]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status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Boolean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students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ObjectId</a:t>
                      </a:r>
                      <a:r>
                        <a:rPr lang="en-US" dirty="0"/>
                        <a:t>[]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he-IL" dirty="0"/>
                        <a:t>מערך מסוג </a:t>
                      </a:r>
                      <a:r>
                        <a:rPr lang="en-US" dirty="0"/>
                        <a:t>User</a:t>
                      </a:r>
                      <a:r>
                        <a:rPr lang="he-IL" dirty="0"/>
                        <a:t> של התלמידות – רק עבור מורה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currentVouchersCount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Number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he-IL" dirty="0"/>
                        <a:t>מספר השוברים בתקופה עד להצטיינות החודשית – רק לתלמידה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 err="1"/>
                        <a:t>currentWeeklyPoints</a:t>
                      </a:r>
                      <a:endParaRPr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Number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he-IL" dirty="0"/>
                        <a:t>מספר הנקודות שנצברו השבוע מתאפס בכל שבוע – רק לתלמידה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9446869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 err="1"/>
                        <a:t>excellenceCertificatesCount</a:t>
                      </a:r>
                      <a:endParaRPr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Number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he-IL" dirty="0"/>
                        <a:t>מספר תעודות הצטיינות שהתלמידה צברה מתחילת השנה – רק לתלמידה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1337148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 err="1"/>
                        <a:t>createdAt</a:t>
                      </a:r>
                      <a:endParaRPr 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Date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/>
                      </a:pPr>
                      <a:r>
                        <a:rPr lang="he-IL" dirty="0"/>
                        <a:t> נוצר בצורה אוטומטי ב </a:t>
                      </a:r>
                      <a:r>
                        <a:rPr lang="en-US" dirty="0"/>
                        <a:t>MongoDB</a:t>
                      </a:r>
                      <a:r>
                        <a:rPr lang="he-IL" dirty="0"/>
                        <a:t> ע"י 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timestamps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6332481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 err="1"/>
                        <a:t>updatedAt</a:t>
                      </a:r>
                      <a:endParaRPr 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Date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/>
                      </a:pPr>
                      <a:r>
                        <a:rPr lang="he-IL" dirty="0"/>
                        <a:t>נוצר בצורה אוטומטי ב </a:t>
                      </a:r>
                      <a:r>
                        <a:rPr lang="en-US" dirty="0"/>
                        <a:t>MongoDB</a:t>
                      </a:r>
                      <a:r>
                        <a:rPr lang="he-IL" dirty="0"/>
                        <a:t> ע"י 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timestamps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92387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237088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C10C197B-5047-9798-1157-4910EF0346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dirty="0"/>
              <a:t>טבלת קטגוריות - </a:t>
            </a:r>
            <a:r>
              <a:rPr lang="en-US" dirty="0"/>
              <a:t>Categories</a:t>
            </a:r>
            <a:r>
              <a:rPr lang="he-IL" dirty="0"/>
              <a:t> </a:t>
            </a:r>
          </a:p>
        </p:txBody>
      </p:sp>
      <p:graphicFrame>
        <p:nvGraphicFramePr>
          <p:cNvPr id="4" name="Table 2">
            <a:extLst>
              <a:ext uri="{FF2B5EF4-FFF2-40B4-BE49-F238E27FC236}">
                <a16:creationId xmlns:a16="http://schemas.microsoft.com/office/drawing/2014/main" id="{11D17E4C-B3AD-6DBC-3E95-63EAAD0596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9751936"/>
              </p:ext>
            </p:extLst>
          </p:nvPr>
        </p:nvGraphicFramePr>
        <p:xfrm>
          <a:off x="794117" y="1786036"/>
          <a:ext cx="10515600" cy="40105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73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1053"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Property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Notes / K</a:t>
                      </a:r>
                      <a:r>
                        <a:rPr lang="en-US" dirty="0"/>
                        <a:t>eys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id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Number(PK)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/>
                      </a:pPr>
                      <a:r>
                        <a:rPr lang="en-US" dirty="0"/>
                        <a:t>Primary Key </a:t>
                      </a:r>
                      <a:r>
                        <a:rPr lang="he-IL" dirty="0"/>
                        <a:t> נוצר אוטומטית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name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String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status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Boolean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createdAt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Date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updatedAt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Date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9446869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63324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533176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62F35716-B020-D5F3-04CA-0307E7337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dirty="0"/>
              <a:t>טבלת מוצרים - </a:t>
            </a:r>
            <a:r>
              <a:rPr lang="en-US" dirty="0"/>
              <a:t>Products</a:t>
            </a:r>
            <a:r>
              <a:rPr lang="he-IL" dirty="0"/>
              <a:t> 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E1933413-07FF-51B5-C27E-EAECC75DDC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e-IL"/>
          </a:p>
        </p:txBody>
      </p:sp>
      <p:graphicFrame>
        <p:nvGraphicFramePr>
          <p:cNvPr id="4" name="Table 2">
            <a:extLst>
              <a:ext uri="{FF2B5EF4-FFF2-40B4-BE49-F238E27FC236}">
                <a16:creationId xmlns:a16="http://schemas.microsoft.com/office/drawing/2014/main" id="{87B21208-296E-F976-231B-BDA68241D4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1258819"/>
              </p:ext>
            </p:extLst>
          </p:nvPr>
        </p:nvGraphicFramePr>
        <p:xfrm>
          <a:off x="794117" y="1786036"/>
          <a:ext cx="10515600" cy="4812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73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1053"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Property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Notes / K</a:t>
                      </a:r>
                      <a:r>
                        <a:rPr lang="en-US" dirty="0"/>
                        <a:t>eys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id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Number(PK)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/>
                      </a:pPr>
                      <a:r>
                        <a:rPr lang="en-US" dirty="0"/>
                        <a:t>Primary Key</a:t>
                      </a:r>
                      <a:r>
                        <a:rPr lang="he-IL" dirty="0"/>
                        <a:t> נוצר אוטומטית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name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String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category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 err="1">
                          <a:solidFill>
                            <a:schemeClr val="tx1"/>
                          </a:solidFill>
                        </a:rPr>
                        <a:t>objectId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he-IL" dirty="0"/>
                        <a:t>קישור לטבלת קטגוריות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description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String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imageUrl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String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costInVouchers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Number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stock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Number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 err="1"/>
                        <a:t>purchasesCount</a:t>
                      </a:r>
                      <a:endParaRPr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Number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he-IL" dirty="0"/>
                        <a:t>כמה נמכר, לצורך חישוב הפריטים הפופולאריים ביותר וכו'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9446869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/>
                        <a:t>status</a:t>
                      </a:r>
                      <a:endParaRPr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boolean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6332481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marL="0" marR="0" lvl="0" indent="0" algn="l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/>
                      </a:pP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createdAt</a:t>
                      </a:r>
                      <a:endParaRPr lang="en-US" sz="14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Date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2763064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marL="0" marR="0" lvl="0" indent="0" algn="l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/>
                      </a:pP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upsatedAt</a:t>
                      </a:r>
                      <a:endParaRPr lang="en-US" sz="14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Date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05169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1225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BA591034-2CFA-7894-D23F-96C10571BF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dirty="0"/>
              <a:t>טבלת הזמנות - </a:t>
            </a:r>
            <a:r>
              <a:rPr lang="en-US" dirty="0"/>
              <a:t>Orders</a:t>
            </a:r>
            <a:endParaRPr lang="he-IL" dirty="0"/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D3BA63D4-F3B6-29E9-B422-D993BBBF09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e-IL" dirty="0"/>
          </a:p>
        </p:txBody>
      </p:sp>
      <p:graphicFrame>
        <p:nvGraphicFramePr>
          <p:cNvPr id="6" name="Table 2">
            <a:extLst>
              <a:ext uri="{FF2B5EF4-FFF2-40B4-BE49-F238E27FC236}">
                <a16:creationId xmlns:a16="http://schemas.microsoft.com/office/drawing/2014/main" id="{10DA59C5-E60D-A46C-97B9-BC086E63ED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5983102"/>
              </p:ext>
            </p:extLst>
          </p:nvPr>
        </p:nvGraphicFramePr>
        <p:xfrm>
          <a:off x="794117" y="1786036"/>
          <a:ext cx="10515600" cy="4812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73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1053"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Property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Notes / K</a:t>
                      </a:r>
                      <a:r>
                        <a:rPr lang="en-US" dirty="0"/>
                        <a:t>eys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id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Number(PK)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/>
                      </a:pPr>
                      <a:r>
                        <a:rPr lang="en-US" dirty="0"/>
                        <a:t>Primary Key</a:t>
                      </a:r>
                      <a:r>
                        <a:rPr lang="he-IL" dirty="0"/>
                        <a:t> נוצר אוטומטית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student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objectId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he-IL" dirty="0"/>
                        <a:t>קישור לטבלת משתמשים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items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/>
                      </a:pP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OrderItem</a:t>
                      </a:r>
                      <a:endParaRPr lang="en-US" sz="14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he-IL" dirty="0"/>
                        <a:t>פריטים מסוג </a:t>
                      </a:r>
                      <a:r>
                        <a:rPr lang="he-IL" dirty="0" err="1"/>
                        <a:t>הקולציה</a:t>
                      </a:r>
                      <a:r>
                        <a:rPr lang="he-IL" dirty="0"/>
                        <a:t> </a:t>
                      </a:r>
                      <a:r>
                        <a:rPr lang="en-US" dirty="0" err="1"/>
                        <a:t>OrderItem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description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String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imageUrl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String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costInVouchers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Number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stock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Number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 err="1"/>
                        <a:t>purchasesCount</a:t>
                      </a:r>
                      <a:endParaRPr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Number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he-IL" dirty="0"/>
                        <a:t>כמה נמכר, לצורך חישוב הפריטים הפופולאריים ביותר וכו'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9446869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/>
                        <a:t>status</a:t>
                      </a:r>
                      <a:endParaRPr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String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/>
                      </a:pP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enum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["draft", "</a:t>
                      </a: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pendingApproval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", "approved", "delivered"],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6332481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marL="0" marR="0" lvl="0" indent="0" algn="l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/>
                      </a:pP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createdAt</a:t>
                      </a:r>
                      <a:endParaRPr lang="en-US" sz="14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Date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2763064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marL="0" marR="0" lvl="0" indent="0" algn="l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/>
                      </a:pP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upsatedAt</a:t>
                      </a:r>
                      <a:endParaRPr lang="en-US" sz="14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Date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0516987"/>
                  </a:ext>
                </a:extLst>
              </a:tr>
            </a:tbl>
          </a:graphicData>
        </a:graphic>
      </p:graphicFrame>
      <p:graphicFrame>
        <p:nvGraphicFramePr>
          <p:cNvPr id="7" name="Table 2">
            <a:extLst>
              <a:ext uri="{FF2B5EF4-FFF2-40B4-BE49-F238E27FC236}">
                <a16:creationId xmlns:a16="http://schemas.microsoft.com/office/drawing/2014/main" id="{59169CF2-1142-D8BB-7AE3-651A67ED7D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9311204"/>
              </p:ext>
            </p:extLst>
          </p:nvPr>
        </p:nvGraphicFramePr>
        <p:xfrm>
          <a:off x="126385" y="365125"/>
          <a:ext cx="6368684" cy="121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90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90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052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30370"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Property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Notes / K</a:t>
                      </a:r>
                      <a:r>
                        <a:rPr lang="en-US" dirty="0"/>
                        <a:t>eys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0370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product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ObjectId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/>
                      </a:pPr>
                      <a:r>
                        <a:rPr lang="he-IL" dirty="0"/>
                        <a:t>קישור לטבלת מוצרים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0370">
                <a:tc>
                  <a:txBody>
                    <a:bodyPr/>
                    <a:lstStyle/>
                    <a:p>
                      <a:pPr marL="0" marR="0" lvl="0" indent="0" algn="l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quantity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number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priceAtOrder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מלבן 7">
            <a:extLst>
              <a:ext uri="{FF2B5EF4-FFF2-40B4-BE49-F238E27FC236}">
                <a16:creationId xmlns:a16="http://schemas.microsoft.com/office/drawing/2014/main" id="{BB2B8019-1366-DC8D-A1FB-B405BCF30109}"/>
              </a:ext>
            </a:extLst>
          </p:cNvPr>
          <p:cNvSpPr/>
          <p:nvPr/>
        </p:nvSpPr>
        <p:spPr>
          <a:xfrm>
            <a:off x="1615972" y="26571"/>
            <a:ext cx="3228577" cy="338554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he-IL" sz="16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קולקצית</a:t>
            </a:r>
            <a:r>
              <a:rPr lang="he-IL" sz="1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en-US" sz="16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OrderIte</a:t>
            </a:r>
            <a:r>
              <a:rPr lang="en-US" sz="1600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</a:t>
            </a:r>
            <a:r>
              <a:rPr lang="he-IL" sz="1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, לא נוצרת טבלה !</a:t>
            </a:r>
          </a:p>
        </p:txBody>
      </p:sp>
    </p:spTree>
    <p:extLst>
      <p:ext uri="{BB962C8B-B14F-4D97-AF65-F5344CB8AC3E}">
        <p14:creationId xmlns:p14="http://schemas.microsoft.com/office/powerpoint/2010/main" val="30751529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C90F2A54-061A-FBA2-010C-344EBB5C5F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dirty="0"/>
              <a:t>טבלת רעיונות - </a:t>
            </a:r>
            <a:r>
              <a:rPr lang="en-US" dirty="0"/>
              <a:t>Ideas</a:t>
            </a:r>
            <a:endParaRPr lang="he-IL" dirty="0"/>
          </a:p>
        </p:txBody>
      </p:sp>
      <p:graphicFrame>
        <p:nvGraphicFramePr>
          <p:cNvPr id="4" name="Table 2">
            <a:extLst>
              <a:ext uri="{FF2B5EF4-FFF2-40B4-BE49-F238E27FC236}">
                <a16:creationId xmlns:a16="http://schemas.microsoft.com/office/drawing/2014/main" id="{C3E5978C-2776-D8BB-B8C6-785D81A764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1960018"/>
              </p:ext>
            </p:extLst>
          </p:nvPr>
        </p:nvGraphicFramePr>
        <p:xfrm>
          <a:off x="794117" y="1786036"/>
          <a:ext cx="10515600" cy="36094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73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1053"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Property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Notes / K</a:t>
                      </a:r>
                      <a:r>
                        <a:rPr lang="en-US" dirty="0"/>
                        <a:t>eys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id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Number(PK)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/>
                      </a:pPr>
                      <a:r>
                        <a:rPr lang="en-US" dirty="0"/>
                        <a:t>Primary Key</a:t>
                      </a:r>
                      <a:r>
                        <a:rPr lang="he-IL" dirty="0"/>
                        <a:t> נוצר אוטומטית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student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objectId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he-IL" dirty="0"/>
                        <a:t>קישור לטבלת תלמידות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text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String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/>
                      </a:pPr>
                      <a:endParaRPr lang="en-US" sz="14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seen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Boolean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status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Boolean 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he-IL" dirty="0"/>
                        <a:t>בשביל תלמידה אם היא מחליטה למחוק את הרעיון שלה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isActive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Boolean 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he-IL" dirty="0"/>
                        <a:t>האם הרעיון אושר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6910359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createdAt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Date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1811249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updatedAt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Date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48565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15838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ABAF548B-0BF3-4E2D-47EB-511A81AE8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dirty="0"/>
              <a:t>טבלת הגדרות - </a:t>
            </a:r>
            <a:r>
              <a:rPr lang="en-US" dirty="0"/>
              <a:t>Settings</a:t>
            </a:r>
            <a:endParaRPr lang="he-IL" dirty="0"/>
          </a:p>
        </p:txBody>
      </p:sp>
      <p:graphicFrame>
        <p:nvGraphicFramePr>
          <p:cNvPr id="4" name="Table 2">
            <a:extLst>
              <a:ext uri="{FF2B5EF4-FFF2-40B4-BE49-F238E27FC236}">
                <a16:creationId xmlns:a16="http://schemas.microsoft.com/office/drawing/2014/main" id="{DA1020C8-2E96-40B7-D4A5-6EA2FF15E7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6558372"/>
              </p:ext>
            </p:extLst>
          </p:nvPr>
        </p:nvGraphicFramePr>
        <p:xfrm>
          <a:off x="794117" y="1786036"/>
          <a:ext cx="10515600" cy="3208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73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1053"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Property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Notes / K</a:t>
                      </a:r>
                      <a:r>
                        <a:rPr lang="en-US" dirty="0"/>
                        <a:t>eys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id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Number(PK)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/>
                      </a:pPr>
                      <a:r>
                        <a:rPr lang="en-US" dirty="0"/>
                        <a:t>Primary Key</a:t>
                      </a:r>
                      <a:r>
                        <a:rPr lang="he-IL" dirty="0"/>
                        <a:t> נוצר אוטומטית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siteActiveFrom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Date | Null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siteActiveTo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Date | 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/>
                      </a:pP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enum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["pending", "reviewed", "approved", "rejected"]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isRedeemOpen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Boolean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he-IL" dirty="0"/>
                        <a:t>האם האתר פתוח כרגע למימוש שוברים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KioskInfo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String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purchesRules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String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94961992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pointsForVoucher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Number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he-IL" dirty="0"/>
                        <a:t>מינימום הנקודות המזכות בשובר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78057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496772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C25C9398-07CB-E8FF-DF35-DFCE2A995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dirty="0"/>
              <a:t>טבלת שוברים - </a:t>
            </a:r>
            <a:r>
              <a:rPr lang="en-US" dirty="0"/>
              <a:t>Vouchers</a:t>
            </a:r>
            <a:endParaRPr lang="he-IL" dirty="0"/>
          </a:p>
        </p:txBody>
      </p:sp>
      <p:graphicFrame>
        <p:nvGraphicFramePr>
          <p:cNvPr id="4" name="Table 2">
            <a:extLst>
              <a:ext uri="{FF2B5EF4-FFF2-40B4-BE49-F238E27FC236}">
                <a16:creationId xmlns:a16="http://schemas.microsoft.com/office/drawing/2014/main" id="{BC17E188-FCDF-A520-ABE2-8BD886D289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1300699"/>
              </p:ext>
            </p:extLst>
          </p:nvPr>
        </p:nvGraphicFramePr>
        <p:xfrm>
          <a:off x="794117" y="1786036"/>
          <a:ext cx="10515600" cy="3208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73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1053"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Property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Notes / K</a:t>
                      </a:r>
                      <a:r>
                        <a:rPr lang="en-US" dirty="0"/>
                        <a:t>eys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id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Number(PK)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/>
                      </a:pPr>
                      <a:r>
                        <a:rPr lang="en-US" dirty="0"/>
                        <a:t>Primary Key</a:t>
                      </a:r>
                      <a:r>
                        <a:rPr lang="he-IL" dirty="0"/>
                        <a:t> נוצר אוטומטית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student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objectId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he-IL" dirty="0"/>
                        <a:t>קישור לטבלת משתמשים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teacher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/>
                      </a:pP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objectId</a:t>
                      </a:r>
                      <a:endParaRPr lang="en-US" sz="14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/>
                      </a:pPr>
                      <a:r>
                        <a:rPr lang="he-IL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קישור לטבלת משתמשים</a:t>
                      </a:r>
                      <a:endParaRPr lang="en-US" sz="14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order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objectId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he-IL" dirty="0"/>
                        <a:t>קישור לטבלת הזמנות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certificatePriod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objectId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he-IL" dirty="0"/>
                        <a:t>קישור לטבלת תקופות הצטיינות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6638391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createdAt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Date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UpdatedAt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Date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949619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687100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15FCF5D7-690E-0C40-9639-9680A0C2C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dirty="0"/>
              <a:t>טבלת נקודות שבועיות - </a:t>
            </a:r>
            <a:r>
              <a:rPr lang="en-US" dirty="0" err="1"/>
              <a:t>WeeklyPoints</a:t>
            </a:r>
            <a:endParaRPr lang="he-IL" dirty="0"/>
          </a:p>
        </p:txBody>
      </p:sp>
      <p:graphicFrame>
        <p:nvGraphicFramePr>
          <p:cNvPr id="4" name="Table 2">
            <a:extLst>
              <a:ext uri="{FF2B5EF4-FFF2-40B4-BE49-F238E27FC236}">
                <a16:creationId xmlns:a16="http://schemas.microsoft.com/office/drawing/2014/main" id="{C695852A-777F-CA9C-C4AB-1EA6480A87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366158"/>
              </p:ext>
            </p:extLst>
          </p:nvPr>
        </p:nvGraphicFramePr>
        <p:xfrm>
          <a:off x="794117" y="1786036"/>
          <a:ext cx="10515600" cy="3208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73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1053"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Property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Notes / K</a:t>
                      </a:r>
                      <a:r>
                        <a:rPr lang="en-US" dirty="0"/>
                        <a:t>eys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id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Number(PK)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/>
                      </a:pPr>
                      <a:r>
                        <a:rPr lang="en-US" dirty="0"/>
                        <a:t>Primary Key</a:t>
                      </a:r>
                      <a:r>
                        <a:rPr lang="he-IL" dirty="0"/>
                        <a:t> נוצר אוטומטית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student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objectId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he-IL" dirty="0"/>
                        <a:t>קישור לטבלת משתמשים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approvedBy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objectId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/>
                      </a:pPr>
                      <a:r>
                        <a:rPr lang="he-IL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קישור לטבלת משתמשים</a:t>
                      </a:r>
                      <a:endParaRPr lang="en-US" sz="14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points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Number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he-IL" dirty="0"/>
                        <a:t>מספר הנקודות שנצברו השבוע בלבד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weekStartDate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String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createdAt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Date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94961992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updatedAt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Date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21104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68059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03146FC5-2EFD-0B4C-9C0B-20E06A3E84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dirty="0"/>
              <a:t>טבלת תעודות הצטיינות - </a:t>
            </a:r>
            <a:r>
              <a:rPr lang="en-US" dirty="0" err="1"/>
              <a:t>ExcellenceCertificate</a:t>
            </a:r>
            <a:r>
              <a:rPr lang="en-US" dirty="0"/>
              <a:t> </a:t>
            </a:r>
            <a:r>
              <a:rPr lang="he-IL" dirty="0"/>
              <a:t> </a:t>
            </a:r>
          </a:p>
        </p:txBody>
      </p:sp>
      <p:graphicFrame>
        <p:nvGraphicFramePr>
          <p:cNvPr id="4" name="Table 2">
            <a:extLst>
              <a:ext uri="{FF2B5EF4-FFF2-40B4-BE49-F238E27FC236}">
                <a16:creationId xmlns:a16="http://schemas.microsoft.com/office/drawing/2014/main" id="{250137C1-D9FF-7B7B-5D39-C638B1BD9D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7356477"/>
              </p:ext>
            </p:extLst>
          </p:nvPr>
        </p:nvGraphicFramePr>
        <p:xfrm>
          <a:off x="794117" y="1786036"/>
          <a:ext cx="10515600" cy="3208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73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1053"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Property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Notes / K</a:t>
                      </a:r>
                      <a:r>
                        <a:rPr lang="en-US" dirty="0"/>
                        <a:t>eys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id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Number(PK)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/>
                      </a:pPr>
                      <a:r>
                        <a:rPr lang="en-US" dirty="0"/>
                        <a:t>Primary Key</a:t>
                      </a:r>
                      <a:r>
                        <a:rPr lang="he-IL" dirty="0"/>
                        <a:t> נוצר אוטומטית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student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objectId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he-IL" dirty="0"/>
                        <a:t>קישור לטבלת משתמשים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issuedBy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/>
                      </a:pPr>
                      <a:r>
                        <a:rPr lang="en-US" dirty="0" err="1"/>
                        <a:t>objectId</a:t>
                      </a:r>
                      <a:endParaRPr lang="en-US" sz="14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 </a:t>
                      </a:r>
                      <a:r>
                        <a:rPr lang="he-IL" dirty="0"/>
                        <a:t>קישור לטבלת משתמשים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peroidStart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Date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he-IL" dirty="0"/>
                        <a:t>תאריך התחלת תקופת ספירת השוברים לצורך תעודת הצטיינות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periodEnd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Date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/>
                      </a:pPr>
                      <a:r>
                        <a:rPr lang="he-IL" dirty="0"/>
                        <a:t>תאריך סיום תקופת ספירת השוברים לצורך תעודת הצטיינות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createdAt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Date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94961992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updatedAt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Date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21104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950507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94726F53-8867-41DE-4D2A-2CB3E16CF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dirty="0"/>
              <a:t>טבלת תקופות הצטיינות - </a:t>
            </a:r>
            <a:r>
              <a:rPr lang="en-US" dirty="0" err="1"/>
              <a:t>certificatePeriod</a:t>
            </a:r>
            <a:endParaRPr lang="he-IL" dirty="0"/>
          </a:p>
        </p:txBody>
      </p:sp>
      <p:graphicFrame>
        <p:nvGraphicFramePr>
          <p:cNvPr id="4" name="Table 2">
            <a:extLst>
              <a:ext uri="{FF2B5EF4-FFF2-40B4-BE49-F238E27FC236}">
                <a16:creationId xmlns:a16="http://schemas.microsoft.com/office/drawing/2014/main" id="{1798A433-9DEA-320A-C2F2-6D5F549CCF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3612881"/>
              </p:ext>
            </p:extLst>
          </p:nvPr>
        </p:nvGraphicFramePr>
        <p:xfrm>
          <a:off x="794117" y="1786036"/>
          <a:ext cx="10515600" cy="412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73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1053"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Property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Notes / K</a:t>
                      </a:r>
                      <a:r>
                        <a:rPr lang="en-US" dirty="0"/>
                        <a:t>eys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id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Number(PK)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/>
                      </a:pPr>
                      <a:r>
                        <a:rPr lang="en-US" dirty="0"/>
                        <a:t>Primary Key</a:t>
                      </a:r>
                      <a:r>
                        <a:rPr lang="he-IL" dirty="0"/>
                        <a:t> נוצר אוטומטית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name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String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he-IL" dirty="0"/>
                        <a:t>הצגה נעימה יותר למשתמש כשיש שם לתקופה (מחצית א וכו')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startDate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/>
                      </a:pPr>
                      <a:r>
                        <a:rPr lang="en-US" dirty="0"/>
                        <a:t>Date</a:t>
                      </a:r>
                      <a:endParaRPr lang="en-US" sz="14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lang="he-I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endDate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Date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maxVoucher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Date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/>
                      </a:pPr>
                      <a:r>
                        <a:rPr lang="he-IL" dirty="0"/>
                        <a:t>מספר השוברים המקסימלי שאפשר ליצור בתקופה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requiredForCertificate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Date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he-IL" dirty="0"/>
                        <a:t>מספר השוברים המינימלי עבור קבלת תעודת הצטיינות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94961992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isActive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Date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he-IL" dirty="0"/>
                        <a:t>האם התקופה פעילה כרגע (התאריך היום נמצא בטווח התאריכים של התקופה)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2110480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createdAt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Date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2355022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updatedAt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Date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8885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322973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A71F19A8-5341-24E7-94F5-9AA5348BB3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dirty="0"/>
              <a:t>טבלת הערות - </a:t>
            </a:r>
            <a:r>
              <a:rPr lang="en-US" dirty="0"/>
              <a:t>Comments</a:t>
            </a:r>
            <a:endParaRPr lang="he-IL" dirty="0"/>
          </a:p>
        </p:txBody>
      </p:sp>
      <p:graphicFrame>
        <p:nvGraphicFramePr>
          <p:cNvPr id="4" name="Table 2">
            <a:extLst>
              <a:ext uri="{FF2B5EF4-FFF2-40B4-BE49-F238E27FC236}">
                <a16:creationId xmlns:a16="http://schemas.microsoft.com/office/drawing/2014/main" id="{D6A9CA8F-B780-53A8-4EFF-0AC10EB3DE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6658375"/>
              </p:ext>
            </p:extLst>
          </p:nvPr>
        </p:nvGraphicFramePr>
        <p:xfrm>
          <a:off x="794117" y="1786036"/>
          <a:ext cx="10515600" cy="36094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73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1053"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Property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Notes / K</a:t>
                      </a:r>
                      <a:r>
                        <a:rPr lang="en-US" dirty="0"/>
                        <a:t>eys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id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Number(PK)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/>
                      </a:pPr>
                      <a:r>
                        <a:rPr lang="en-US" dirty="0"/>
                        <a:t>Primary Key</a:t>
                      </a:r>
                      <a:r>
                        <a:rPr lang="he-IL" dirty="0"/>
                        <a:t> נוצר אוטומטית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student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Date | Null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teacher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Date | 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/>
                      </a:pP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enum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["pending", "reviewed", "approved", "rejected"]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text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Boolean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he-IL" dirty="0"/>
                        <a:t>האם האתר פתוח כרגע למימוש שוברים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type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String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Enum: [“behavior” | “academic” | “warning” | “general”]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isVisibleToStudent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Boolean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94961992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createdAt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Date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2110480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updatedAt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Date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78057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605885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CA45E7BA-4CB3-6A29-FA83-95BD493CD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dirty="0"/>
              <a:t>קשרים בין טבלאות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781A47D8-F9FC-90A2-78A3-28B1ACD04F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Teachers</a:t>
            </a:r>
            <a:r>
              <a:rPr lang="he-IL" dirty="0"/>
              <a:t> -&gt; אחד לרבים לטבלת </a:t>
            </a:r>
            <a:r>
              <a:rPr lang="en-US" dirty="0"/>
              <a:t>Students </a:t>
            </a:r>
            <a:endParaRPr lang="he-IL" dirty="0"/>
          </a:p>
          <a:p>
            <a:r>
              <a:rPr lang="en-US" dirty="0"/>
              <a:t>Orders</a:t>
            </a:r>
            <a:r>
              <a:rPr lang="he-IL" dirty="0"/>
              <a:t> -&gt; רבים ליחיד לטבלת </a:t>
            </a:r>
            <a:r>
              <a:rPr lang="en-US" dirty="0"/>
              <a:t>Student</a:t>
            </a:r>
          </a:p>
          <a:p>
            <a:r>
              <a:rPr lang="en-US" dirty="0"/>
              <a:t>Orders</a:t>
            </a:r>
            <a:r>
              <a:rPr lang="he-IL" dirty="0"/>
              <a:t> -&gt; יחיד לרבים לטבלת </a:t>
            </a:r>
            <a:r>
              <a:rPr lang="en-US" dirty="0"/>
              <a:t>Products</a:t>
            </a:r>
          </a:p>
          <a:p>
            <a:r>
              <a:rPr lang="en-US" dirty="0"/>
              <a:t>Products</a:t>
            </a:r>
            <a:r>
              <a:rPr lang="he-IL" dirty="0"/>
              <a:t> -&gt; רבים ליחיד לטבלת </a:t>
            </a:r>
            <a:r>
              <a:rPr lang="en-US" dirty="0"/>
              <a:t>Categories</a:t>
            </a:r>
          </a:p>
          <a:p>
            <a:r>
              <a:rPr lang="en-US" dirty="0"/>
              <a:t>Ideas</a:t>
            </a:r>
            <a:r>
              <a:rPr lang="he-IL" dirty="0"/>
              <a:t> -&gt; רבים ליחיד לטבלת </a:t>
            </a:r>
            <a:r>
              <a:rPr lang="en-US" dirty="0"/>
              <a:t>Students</a:t>
            </a:r>
          </a:p>
          <a:p>
            <a:r>
              <a:rPr lang="en-US" dirty="0"/>
              <a:t>Vouchers</a:t>
            </a:r>
            <a:r>
              <a:rPr lang="he-IL" dirty="0"/>
              <a:t> -&gt; רבים ליחיד לטבלאות </a:t>
            </a:r>
            <a:r>
              <a:rPr lang="en-US" dirty="0"/>
              <a:t>Students, Teachers, Orders, </a:t>
            </a:r>
            <a:r>
              <a:rPr lang="en-US" dirty="0" err="1"/>
              <a:t>certificatePeriods</a:t>
            </a:r>
            <a:endParaRPr lang="en-US" dirty="0"/>
          </a:p>
          <a:p>
            <a:r>
              <a:rPr lang="en-US" dirty="0" err="1"/>
              <a:t>weeklyPointsLogs</a:t>
            </a:r>
            <a:r>
              <a:rPr lang="he-IL" dirty="0"/>
              <a:t> -&gt; רבים ליחיד לטבלת </a:t>
            </a:r>
            <a:r>
              <a:rPr lang="en-US" dirty="0"/>
              <a:t>Students, Teachers(Admins)</a:t>
            </a:r>
          </a:p>
          <a:p>
            <a:r>
              <a:rPr lang="en-US" dirty="0"/>
              <a:t>Notes</a:t>
            </a:r>
            <a:r>
              <a:rPr lang="he-IL" dirty="0"/>
              <a:t> -&gt; רבים ליחיד לטבלאות </a:t>
            </a:r>
            <a:r>
              <a:rPr lang="en-US" dirty="0"/>
              <a:t>Students, Teachers</a:t>
            </a:r>
          </a:p>
          <a:p>
            <a:r>
              <a:rPr lang="en-US" dirty="0" err="1"/>
              <a:t>excellenceCertificate</a:t>
            </a:r>
            <a:r>
              <a:rPr lang="he-IL" dirty="0"/>
              <a:t> -&gt; רבים ליחיד לטבלאות </a:t>
            </a:r>
            <a:r>
              <a:rPr lang="en-US" dirty="0"/>
              <a:t>Students, Teachers</a:t>
            </a:r>
            <a:endParaRPr lang="he-IL" dirty="0"/>
          </a:p>
          <a:p>
            <a:pPr marL="0" indent="0">
              <a:buNone/>
            </a:pPr>
            <a:endParaRPr lang="en-US" dirty="0"/>
          </a:p>
          <a:p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24561883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9D755746-8DD0-39CA-B5C1-58C2992FC9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B0841849-450E-5FBD-0F9B-9835AC8AB0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0935113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AB9448FA-EEE1-0DAC-2B5E-9EA5548A35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29595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sz="7200" b="1" dirty="0"/>
              <a:t>Thank you! </a:t>
            </a:r>
            <a:endParaRPr lang="he-IL" sz="7200" b="1" dirty="0"/>
          </a:p>
        </p:txBody>
      </p:sp>
      <p:pic>
        <p:nvPicPr>
          <p:cNvPr id="6" name="תמונה 5">
            <a:extLst>
              <a:ext uri="{FF2B5EF4-FFF2-40B4-BE49-F238E27FC236}">
                <a16:creationId xmlns:a16="http://schemas.microsoft.com/office/drawing/2014/main" id="{18E0F646-E227-3D42-8BFB-6DF312D412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873558"/>
            <a:ext cx="3656804" cy="3899767"/>
          </a:xfrm>
          <a:prstGeom prst="rect">
            <a:avLst/>
          </a:prstGeom>
        </p:spPr>
      </p:pic>
      <p:sp>
        <p:nvSpPr>
          <p:cNvPr id="7" name="מלבן 6">
            <a:extLst>
              <a:ext uri="{FF2B5EF4-FFF2-40B4-BE49-F238E27FC236}">
                <a16:creationId xmlns:a16="http://schemas.microsoft.com/office/drawing/2014/main" id="{32793686-13C6-CAD9-CA18-F6CA4D2F4667}"/>
              </a:ext>
            </a:extLst>
          </p:cNvPr>
          <p:cNvSpPr/>
          <p:nvPr/>
        </p:nvSpPr>
        <p:spPr>
          <a:xfrm>
            <a:off x="7393646" y="4475623"/>
            <a:ext cx="3946914" cy="196977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radley Hand ITC" panose="03070402050302030203" pitchFamily="66" charset="0"/>
                <a:cs typeface="Guttman Yad-Brush" panose="02010401010101010101" pitchFamily="2" charset="-79"/>
              </a:rPr>
              <a:t>Sara Hartuv</a:t>
            </a:r>
          </a:p>
          <a:p>
            <a:pPr algn="ctr"/>
            <a:r>
              <a:rPr lang="en-US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radley Hand ITC" panose="03070402050302030203" pitchFamily="66" charset="0"/>
              </a:rPr>
              <a:t>sarahartuv1@gmail.com</a:t>
            </a:r>
            <a:r>
              <a:rPr lang="en-US" sz="24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radley Hand ITC" panose="03070402050302030203" pitchFamily="66" charset="0"/>
                <a:cs typeface="Guttman Yad-Brush" panose="02010401010101010101" pitchFamily="2" charset="-79"/>
              </a:rPr>
              <a:t> </a:t>
            </a:r>
          </a:p>
          <a:p>
            <a:pPr algn="ctr"/>
            <a:r>
              <a:rPr lang="en-US" sz="4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radley Hand ITC" panose="03070402050302030203" pitchFamily="66" charset="0"/>
                <a:cs typeface="Guttman Yad-Brush" panose="02010401010101010101" pitchFamily="2" charset="-79"/>
              </a:rPr>
              <a:t>10/12/25</a:t>
            </a:r>
            <a:endParaRPr lang="he-IL" sz="40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Bradley Hand ITC" panose="03070402050302030203" pitchFamily="66" charset="0"/>
              <a:cs typeface="Guttman Yad-Brush" panose="02010401010101010101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4037828427"/>
      </p:ext>
    </p:extLst>
  </p:cSld>
  <p:clrMapOvr>
    <a:masterClrMapping/>
  </p:clrMapOvr>
</p:sld>
</file>

<file path=ppt/theme/theme1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1235</TotalTime>
  <Words>1173</Words>
  <Application>Microsoft Office PowerPoint</Application>
  <PresentationFormat>מסך רחב</PresentationFormat>
  <Paragraphs>331</Paragraphs>
  <Slides>19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4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19</vt:i4>
      </vt:variant>
    </vt:vector>
  </HeadingPairs>
  <TitlesOfParts>
    <vt:vector size="24" baseType="lpstr">
      <vt:lpstr>Arial</vt:lpstr>
      <vt:lpstr>Bradley Hand ITC</vt:lpstr>
      <vt:lpstr>Calibri</vt:lpstr>
      <vt:lpstr>Calibri Light</vt:lpstr>
      <vt:lpstr>ערכת נושא Office</vt:lpstr>
      <vt:lpstr>פרויקט עיצוב התנהגות</vt:lpstr>
      <vt:lpstr>ניהול הדטה בייס</vt:lpstr>
      <vt:lpstr>עקרונות מבנה ה DB </vt:lpstr>
      <vt:lpstr>איך המבנה תומך במערכת בפועל ?</vt:lpstr>
      <vt:lpstr>סוגי משתמשים </vt:lpstr>
      <vt:lpstr>טבלת משתמשים - Users </vt:lpstr>
      <vt:lpstr>טבלת קטגוריות - Categories </vt:lpstr>
      <vt:lpstr>טבלת מוצרים - Products </vt:lpstr>
      <vt:lpstr>טבלת הזמנות - Orders</vt:lpstr>
      <vt:lpstr>טבלת רעיונות - Ideas</vt:lpstr>
      <vt:lpstr>טבלת הגדרות - Settings</vt:lpstr>
      <vt:lpstr>טבלת שוברים - Vouchers</vt:lpstr>
      <vt:lpstr>טבלת נקודות שבועיות - WeeklyPoints</vt:lpstr>
      <vt:lpstr>טבלת תעודות הצטיינות - ExcellenceCertificate  </vt:lpstr>
      <vt:lpstr>טבלת תקופות הצטיינות - certificatePeriod</vt:lpstr>
      <vt:lpstr>טבלת הערות - Comments</vt:lpstr>
      <vt:lpstr>קשרים בין טבלאות</vt:lpstr>
      <vt:lpstr>מצגת של PowerPoint‏</vt:lpstr>
      <vt:lpstr>Thank you!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USER</cp:lastModifiedBy>
  <cp:revision>4</cp:revision>
  <dcterms:created xsi:type="dcterms:W3CDTF">2025-12-04T11:29:59Z</dcterms:created>
  <dcterms:modified xsi:type="dcterms:W3CDTF">2025-12-10T22:03:12Z</dcterms:modified>
</cp:coreProperties>
</file>