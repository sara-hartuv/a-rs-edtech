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0" r:id="rId4"/>
    <p:sldId id="271" r:id="rId5"/>
    <p:sldId id="258" r:id="rId6"/>
    <p:sldId id="259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3" r:id="rId15"/>
    <p:sldId id="282" r:id="rId16"/>
    <p:sldId id="265" r:id="rId17"/>
    <p:sldId id="267" r:id="rId18"/>
    <p:sldId id="269" r:id="rId19"/>
    <p:sldId id="261" r:id="rId20"/>
    <p:sldId id="260" r:id="rId21"/>
    <p:sldId id="262" r:id="rId22"/>
    <p:sldId id="263" r:id="rId23"/>
    <p:sldId id="264" r:id="rId24"/>
    <p:sldId id="284" r:id="rId25"/>
    <p:sldId id="285" r:id="rId26"/>
    <p:sldId id="272" r:id="rId27"/>
    <p:sldId id="274" r:id="rId28"/>
    <p:sldId id="273" r:id="rId2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47DDD7DF-E23F-40AF-99D6-BBBE77B30BEB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E590AA9-00E6-4969-B961-C47464B575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420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6E20-1994-93E2-9685-D1833972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E5729AD9-CEBA-A74D-F765-D59E3F4CC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B926066-2452-FC18-8B78-ADFA319FF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גם עבור מסך הבית "מה אפשר למצוא אצלינו"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2C05BA0-3551-8209-5271-EC3DEAD90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90AA9-00E6-4969-B961-C47464B57528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1588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CE3B5-02B1-E4D9-EBDD-ED4310C8F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6E823EC-D0F7-EBBF-6A91-7B07C07DF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C10CE4B-4D76-7742-C693-B023E451F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גם עבור מסך הבית "מה אפשר למצוא אצלינו"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3308982-EA46-3CF3-F31A-F2C02C6A1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90AA9-00E6-4969-B961-C47464B57528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77944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D0FE-A340-B6D9-B14E-BAB7C666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2ABF69DD-5B99-699D-394B-ACCA8298A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C0A50F23-FD9E-1B60-08A6-A82F4E4DF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גם עבור מסך הבית "מה אפשר למצוא אצלינו"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FBE8EDC-D567-D8AF-49D2-EC54AC3BE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90AA9-00E6-4969-B961-C47464B57528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6350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D965F-97DF-3C96-E83F-68376E63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FF6FBC7-0DF9-65BB-2BE8-D7B327D9E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54543CD-3B58-0A27-B699-ABD00A57D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גם עבור מסך הבית "מה אפשר למצוא אצלינו"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458FFD2-5D84-972A-0CD4-47C236705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90AA9-00E6-4969-B961-C47464B57528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6123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18A96-6AD0-6E12-77B9-4C0198F1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2EC94533-6760-F36E-112A-9650E520E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75127CF2-490B-8A22-229F-12FF80E15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גם עבור מסך הבית "מה אפשר למצוא אצלינו"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AC2EE73-0FE7-4D22-53DF-6C15016FB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90AA9-00E6-4969-B961-C47464B57528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9659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גם עבור מסך הבית "מה אפשר למצוא אצלינו"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90AA9-00E6-4969-B961-C47464B57528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3069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B8795D-4D39-2E74-CB0A-389C5F011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D13A1CC-FAC8-79B9-4DC4-C6FBAAE4C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1B1DF5A-91B3-CBA1-3EB7-C2DC8EC5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80DC146-29BC-3E1A-01DD-F620995A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64B88A-11B6-84CB-3A71-37F1EEF4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436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3437DF-4038-8406-3873-6414014C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4B5D41-C586-B9AD-96B7-2B08F69A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1247D81-59A4-59EF-C5A2-1B67F5DBD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7501991-73A9-9C6C-255A-CE81D275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C7CCCFA-25F4-F5DD-38DF-8AF62183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751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5C08A1-2DE7-0BCA-15B8-954AA56D2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2C6772A-5BDC-923A-2439-D8E14BC9D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6EDD68-7C7B-F59A-3BC7-1EF3C35B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FE60E39-E5BC-E793-8E5D-E056FB69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58ED1B-53B7-7E44-88BB-98DEA503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245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D6D480-C4B0-9A9B-7481-D7DAC66E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891E29D-D652-6428-1BF3-2828DFA0C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AAC6B7D-9191-FB5C-0076-0386BC134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75EF266-1585-E9FB-8F45-9D17F27B3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75169E7-4294-BB72-D4F7-EC5C7D2CC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EDCC8FA-C9FF-F372-179D-61A8345B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5786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EF464B-A949-EDC6-F25A-CC25F413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42D80D1-1B37-281D-B1A9-14DBE951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1CBAA4-6C59-90DB-578E-480C65471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ECD243E-0987-F782-1610-507B546EC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69B44E4-85D1-A2CB-C3D6-65DC0B2DC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2FFADBF-6E3D-82BE-55BE-CE834144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24E7C43-B7E5-F407-0B6F-1F258B62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5441FF1-421A-32CF-935C-BCFEC61D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671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330B01-A996-93D4-A885-281DC882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143E3D8-C263-B6DD-7E6C-135B4D9F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6B3675D-B5DD-A9A4-68AE-CEE50437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9C9B035-601F-2101-B511-97D857BE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270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7BA973C-CB15-40AF-5856-9EA9C708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3BC5C35-D315-6E3E-139C-8E1B6DCCE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72F4B48-0505-EFA2-86AA-44F90238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460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119517-F1A8-FF56-B6F6-F4741AB8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11E3CE6-CC31-6B68-FC2F-56942A89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F0CA528-563A-B4C3-87FB-0EFDDA14E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5EB9AB2-C6EF-D056-193E-031399FC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6B9B173-0594-A89D-BC9E-60E83496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43317EC-086C-2AAF-C6A3-A5858556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001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09221A-F8A6-BFB6-7910-C911FD50C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6DB79E2-39EB-E638-6573-322862341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D81598D-FE45-ABB9-2334-048C99401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3C76F45-3088-A22D-31A5-F72F481B6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7593085-05C1-D454-FE4E-CA31671B9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FB71B1F-5732-51F7-21BE-826E1D5D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730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CD98C0-A073-B6AF-DC3B-04724DC3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DCA2F62-04AA-7C23-F759-92077B8FF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ADDD5E5-75E2-9297-F434-F7D42D5F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98BA02-0DCC-4E37-E34D-E3B25B88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2B23573-B2A1-7CBF-5C4D-EE3B2E97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1592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C63796D-2ACC-1DB4-810B-F65248A3D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8E56480-3C6E-14FE-83AB-265E6F662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64841D3-C498-FD42-F4A5-2AEE0FDC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354A95E-2538-4D0C-6623-70761AE28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7491C49-3085-2025-1483-39EC9379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823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F266909-026B-5021-B439-C14C485C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D64CF7A-68B6-44DA-DE56-B151C7B00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9DDC6DD-5C74-673D-E18A-284E81376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20D4E-0C0F-4E2E-8C0F-9662B8C8873C}" type="datetimeFigureOut">
              <a:rPr lang="he-IL" smtClean="0"/>
              <a:t>א'/אדר/תשפ"ו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12B4966-7F76-F5F8-80A0-D027A3F04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33D8D0-47E4-59B8-CC2E-78BBA0BB1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2B759-E8A7-49C9-B1D5-B5B916C9691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77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1FAB91-5837-42D6-703D-E941CA17D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פרויקט עיצוב התנהגות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ED16EAE-8CB0-AC5B-3CE3-61043D2E54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0E49E83-B8F5-C684-C575-B1ABACB2D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3558"/>
            <a:ext cx="3656804" cy="3899767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DEEFEB4F-D0A5-D309-440C-CA26C5660A1A}"/>
              </a:ext>
            </a:extLst>
          </p:cNvPr>
          <p:cNvSpPr/>
          <p:nvPr/>
        </p:nvSpPr>
        <p:spPr>
          <a:xfrm>
            <a:off x="7393646" y="4475623"/>
            <a:ext cx="3946914" cy="196977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Sara Hartuv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</a:rPr>
              <a:t>sarahartuv1@gmail.com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 </a:t>
            </a:r>
          </a:p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10/12/25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adley Hand ITC" panose="03070402050302030203" pitchFamily="66" charset="0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85533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64B661-D182-F328-04B8-B0C9E0A5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ניהול </a:t>
            </a:r>
            <a:r>
              <a:rPr lang="he-IL" dirty="0" err="1"/>
              <a:t>הדטה</a:t>
            </a:r>
            <a:r>
              <a:rPr lang="he-IL" dirty="0"/>
              <a:t> </a:t>
            </a:r>
            <a:r>
              <a:rPr lang="he-IL" dirty="0" err="1"/>
              <a:t>בייס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E9F72A2-4FC3-B3DC-0F9F-BF6A76DAE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b="1" dirty="0"/>
              <a:t>סוג בסיס הנתונים:</a:t>
            </a:r>
          </a:p>
          <a:p>
            <a:r>
              <a:rPr lang="he-IL" dirty="0"/>
              <a:t>המערכת משתמשת ב־</a:t>
            </a:r>
            <a:r>
              <a:rPr lang="en-US" dirty="0"/>
              <a:t> MongoDB – </a:t>
            </a:r>
            <a:r>
              <a:rPr lang="he-IL" dirty="0"/>
              <a:t>בסיס נתונים </a:t>
            </a:r>
            <a:r>
              <a:rPr lang="en-US" dirty="0"/>
              <a:t> NoSQL </a:t>
            </a:r>
            <a:r>
              <a:rPr lang="he-IL" dirty="0"/>
              <a:t>מבוסס מסמכים </a:t>
            </a:r>
            <a:r>
              <a:rPr lang="en-US" dirty="0"/>
              <a:t>(Document Oriented)</a:t>
            </a:r>
            <a:r>
              <a:rPr lang="he-IL" dirty="0"/>
              <a:t>.</a:t>
            </a:r>
          </a:p>
          <a:p>
            <a:pPr marL="0" indent="0">
              <a:buNone/>
            </a:pPr>
            <a:r>
              <a:rPr lang="he-IL" b="1" dirty="0"/>
              <a:t>בחירה זו מאפשרת:</a:t>
            </a:r>
          </a:p>
          <a:p>
            <a:r>
              <a:rPr lang="he-IL" dirty="0"/>
              <a:t>גמישות גבוהה בהוספת שדות חדשים לאורך חיי הפרויקט.</a:t>
            </a:r>
          </a:p>
          <a:p>
            <a:r>
              <a:rPr lang="he-IL" dirty="0"/>
              <a:t>עבודה טבעית עם מבני נתונים מורכבים כמו רשימות, אובייקטים וקשרים בין טבלאות.</a:t>
            </a:r>
          </a:p>
          <a:p>
            <a:r>
              <a:rPr lang="he-IL" dirty="0"/>
              <a:t>ביצועים טובים במערכת שבה קיימים הרבה מסמכים ומידע משתנה לפי תפקידים ופעולות.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2452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AB64E0-D58D-FCCB-C14C-62C4F438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עקרונות מבנה ה </a:t>
            </a:r>
            <a:r>
              <a:rPr lang="en-US" dirty="0"/>
              <a:t>DB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6C033F8-1AD3-6BB5-0A19-19DE8448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e-IL" b="1" dirty="0"/>
              <a:t>מבנה מבוסס קולקציות </a:t>
            </a:r>
            <a:r>
              <a:rPr lang="en-US" b="1" dirty="0"/>
              <a:t>Collections)</a:t>
            </a:r>
            <a:r>
              <a:rPr lang="he-IL" b="1" dirty="0"/>
              <a:t>)</a:t>
            </a:r>
            <a:br>
              <a:rPr lang="en-US" dirty="0"/>
            </a:br>
            <a:r>
              <a:rPr lang="he-IL" dirty="0"/>
              <a:t>כל ישות משמעותית במערכת נשמרת בקולקציה נפרדת לדוגמה:</a:t>
            </a:r>
            <a:br>
              <a:rPr lang="he-IL" dirty="0"/>
            </a:br>
            <a:r>
              <a:rPr lang="en-US" i="1" dirty="0"/>
              <a:t>Users</a:t>
            </a:r>
            <a:r>
              <a:rPr lang="en-US" dirty="0"/>
              <a:t>, </a:t>
            </a:r>
            <a:r>
              <a:rPr lang="en-US" i="1" dirty="0"/>
              <a:t>Products</a:t>
            </a:r>
            <a:r>
              <a:rPr lang="en-US" dirty="0"/>
              <a:t>, </a:t>
            </a:r>
            <a:r>
              <a:rPr lang="en-US" i="1" dirty="0"/>
              <a:t>Orders</a:t>
            </a:r>
            <a:r>
              <a:rPr lang="en-US" dirty="0"/>
              <a:t>, </a:t>
            </a:r>
            <a:r>
              <a:rPr lang="en-US" i="1" dirty="0"/>
              <a:t>Categories</a:t>
            </a:r>
            <a:r>
              <a:rPr lang="en-US" dirty="0"/>
              <a:t>, </a:t>
            </a:r>
            <a:r>
              <a:rPr lang="en-US" i="1" dirty="0"/>
              <a:t>Periods</a:t>
            </a:r>
            <a:r>
              <a:rPr lang="en-US" dirty="0"/>
              <a:t>, </a:t>
            </a:r>
            <a:r>
              <a:rPr lang="en-US" i="1" dirty="0"/>
              <a:t>Settings</a:t>
            </a:r>
            <a:r>
              <a:rPr lang="en-US" dirty="0"/>
              <a:t>, </a:t>
            </a:r>
            <a:r>
              <a:rPr lang="en-US" i="1" dirty="0"/>
              <a:t>Ideas</a:t>
            </a:r>
            <a:r>
              <a:rPr lang="he-IL" i="1" dirty="0"/>
              <a:t>.</a:t>
            </a:r>
            <a:endParaRPr lang="en-US" dirty="0"/>
          </a:p>
          <a:p>
            <a:r>
              <a:rPr lang="he-IL" b="1" dirty="0"/>
              <a:t>קשרים בין ישויות באמצעות </a:t>
            </a:r>
            <a:r>
              <a:rPr lang="en-US" b="1" dirty="0" err="1"/>
              <a:t>ObjectId</a:t>
            </a:r>
            <a:br>
              <a:rPr lang="en-US" dirty="0"/>
            </a:br>
            <a:r>
              <a:rPr lang="he-IL" dirty="0"/>
              <a:t>במקום לשכפל מידע, נשמרים קישורים בין המסמכים.</a:t>
            </a:r>
            <a:br>
              <a:rPr lang="he-IL" dirty="0"/>
            </a:br>
            <a:r>
              <a:rPr lang="he-IL" dirty="0"/>
              <a:t>לדוגמה: הזמנה מקושרת לתלמידה ולמוצרים דרך מזהים.</a:t>
            </a:r>
          </a:p>
          <a:p>
            <a:r>
              <a:rPr lang="he-IL" b="1" dirty="0"/>
              <a:t>תמיכה במבנה </a:t>
            </a:r>
            <a:r>
              <a:rPr lang="en-US" b="1" dirty="0"/>
              <a:t>Role-Based Access</a:t>
            </a:r>
            <a:br>
              <a:rPr lang="en-US" dirty="0"/>
            </a:br>
            <a:r>
              <a:rPr lang="he-IL" dirty="0"/>
              <a:t>מבנה המשתמשים כולל שדה המגדיר תפקיד (מורה / תלמידה / מנהלת),</a:t>
            </a:r>
            <a:br>
              <a:rPr lang="he-IL" dirty="0"/>
            </a:br>
            <a:r>
              <a:rPr lang="he-IL" dirty="0"/>
              <a:t>ומאפשר בניית לוגיקה של הרשאות וגישה למידע בהתאם לתפקיד.</a:t>
            </a:r>
          </a:p>
          <a:p>
            <a:r>
              <a:rPr lang="he-IL" b="1" dirty="0"/>
              <a:t>תמיכה בזרימת עבודה </a:t>
            </a:r>
            <a:r>
              <a:rPr lang="en-US" b="1" dirty="0"/>
              <a:t>Workflows)</a:t>
            </a:r>
            <a:r>
              <a:rPr lang="he-IL" b="1" dirty="0"/>
              <a:t>)</a:t>
            </a:r>
            <a:br>
              <a:rPr lang="en-US" dirty="0"/>
            </a:br>
            <a:r>
              <a:rPr lang="he-IL" dirty="0"/>
              <a:t>חלק מהקולקציות כוללות שדות סטטוס לדוגמה:</a:t>
            </a:r>
            <a:br>
              <a:rPr lang="he-IL" dirty="0"/>
            </a:br>
            <a:r>
              <a:rPr lang="he-IL" dirty="0"/>
              <a:t>הזמנה יכולה להיות </a:t>
            </a:r>
            <a:r>
              <a:rPr lang="en-US" i="1" dirty="0"/>
              <a:t>draft / </a:t>
            </a:r>
            <a:r>
              <a:rPr lang="en-US" i="1" dirty="0" err="1"/>
              <a:t>pendingApproval</a:t>
            </a:r>
            <a:r>
              <a:rPr lang="en-US" i="1" dirty="0"/>
              <a:t> / approved / delivered</a:t>
            </a:r>
            <a:r>
              <a:rPr lang="he-IL" i="1" dirty="0"/>
              <a:t>.</a:t>
            </a:r>
            <a:br>
              <a:rPr lang="en-US" dirty="0"/>
            </a:br>
            <a:r>
              <a:rPr lang="he-IL" dirty="0"/>
              <a:t>גם הצעות המוצרים </a:t>
            </a:r>
            <a:r>
              <a:rPr lang="en-US" i="1" dirty="0"/>
              <a:t>Ideas</a:t>
            </a:r>
            <a:r>
              <a:rPr lang="en-US" dirty="0"/>
              <a:t>)</a:t>
            </a:r>
            <a:r>
              <a:rPr lang="he-IL" dirty="0"/>
              <a:t>) כוללות סטטוסים לניהול תהליכי אישור.</a:t>
            </a:r>
          </a:p>
          <a:p>
            <a:r>
              <a:rPr lang="he-IL" b="1" dirty="0"/>
              <a:t>שמירה על היסטוריה ונתוני מעקב</a:t>
            </a:r>
            <a:br>
              <a:rPr lang="he-IL" dirty="0"/>
            </a:br>
            <a:r>
              <a:rPr lang="he-IL" dirty="0"/>
              <a:t>כל המסמכים מכילים </a:t>
            </a:r>
            <a:r>
              <a:rPr lang="en-US" i="1" dirty="0" err="1"/>
              <a:t>createdAt</a:t>
            </a:r>
            <a:r>
              <a:rPr lang="en-US" dirty="0"/>
              <a:t> </a:t>
            </a:r>
            <a:r>
              <a:rPr lang="he-IL" dirty="0"/>
              <a:t> ,</a:t>
            </a:r>
            <a:r>
              <a:rPr lang="en-US" i="1" dirty="0" err="1"/>
              <a:t>updatedAt</a:t>
            </a:r>
            <a:r>
              <a:rPr lang="en-US" dirty="0"/>
              <a:t> </a:t>
            </a:r>
            <a:r>
              <a:rPr lang="he-IL" dirty="0"/>
              <a:t> לצורך מעקב פעילות וניהול לוגים.</a:t>
            </a:r>
          </a:p>
          <a:p>
            <a:r>
              <a:rPr lang="he-IL" b="1" dirty="0"/>
              <a:t>תמיכה במלאי ודינמיות במוצרים</a:t>
            </a:r>
            <a:br>
              <a:rPr lang="he-IL" dirty="0"/>
            </a:br>
            <a:r>
              <a:rPr lang="he-IL" dirty="0"/>
              <a:t>לכל מוצר נשמרים </a:t>
            </a:r>
            <a:r>
              <a:rPr lang="en-US" i="1" dirty="0"/>
              <a:t>stock</a:t>
            </a:r>
            <a:r>
              <a:rPr lang="en-US" dirty="0"/>
              <a:t>, </a:t>
            </a:r>
            <a:r>
              <a:rPr lang="en-US" i="1" dirty="0" err="1"/>
              <a:t>costInVouchers</a:t>
            </a:r>
            <a:r>
              <a:rPr lang="en-US" dirty="0"/>
              <a:t>, </a:t>
            </a:r>
            <a:r>
              <a:rPr lang="en-US" i="1" dirty="0" err="1"/>
              <a:t>purchasesCount</a:t>
            </a:r>
            <a:r>
              <a:rPr lang="en-US" dirty="0"/>
              <a:t>, </a:t>
            </a:r>
            <a:r>
              <a:rPr lang="he-IL" dirty="0"/>
              <a:t> ועוד,</a:t>
            </a:r>
            <a:br>
              <a:rPr lang="he-IL" dirty="0"/>
            </a:br>
            <a:r>
              <a:rPr lang="he-IL" dirty="0"/>
              <a:t>מה שמאפשר קבלת החלטות ניהוליות ומעקב אמיתי אחר צריכה.</a:t>
            </a:r>
          </a:p>
          <a:p>
            <a:r>
              <a:rPr lang="he-IL" b="1" dirty="0"/>
              <a:t>הפרדת הגדרות מערכת בקולקציית </a:t>
            </a:r>
            <a:r>
              <a:rPr lang="en-US" b="1" dirty="0"/>
              <a:t>Settings</a:t>
            </a:r>
            <a:br>
              <a:rPr lang="en-US" dirty="0"/>
            </a:br>
            <a:r>
              <a:rPr lang="he-IL" dirty="0"/>
              <a:t>לצורך גמישות בעדכון כללי המערכת ללא שינויי קוד:</a:t>
            </a:r>
            <a:br>
              <a:rPr lang="he-IL" dirty="0"/>
            </a:br>
            <a:r>
              <a:rPr lang="he-IL" dirty="0"/>
              <a:t>זמני פתיחה/סגירה של האתר, כללים לרכישות, יחס נקודות-שובר ועוד.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5562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3C6617-AC9A-733B-5BF1-411F65E2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המבנה תומך במערכת בפועל 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FBBFEBF-F67B-B38F-A5C5-44B9D690C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מאפשר גישה מידע מותאמת לתפקיד.</a:t>
            </a:r>
          </a:p>
          <a:p>
            <a:r>
              <a:rPr lang="he-IL" dirty="0"/>
              <a:t>תומך בתהליכים כמו צבירת נקודות, רכישת מוצרים והפקת הזמנות.</a:t>
            </a:r>
          </a:p>
          <a:p>
            <a:r>
              <a:rPr lang="he-IL" dirty="0"/>
              <a:t>מאפשר לנהל מלאי, אישורים, תקופות, וסנכרון בין מורות לצוות ניהולי.</a:t>
            </a:r>
          </a:p>
          <a:p>
            <a:r>
              <a:rPr lang="he-IL" dirty="0"/>
              <a:t>מאפשר להתרחב בקלות בעתיד — הוספת מודולים חדשים בלי לשבור את המבנה.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5846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577759-F8FB-B60A-0E34-8C769011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סוגי משתמשים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03EA27-E134-E38B-58CE-B9E8354F5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ישנם 5 סוגי משתמשים במערכת : </a:t>
            </a:r>
          </a:p>
          <a:p>
            <a:pPr marL="0" indent="0">
              <a:buNone/>
            </a:pPr>
            <a:r>
              <a:rPr lang="he-IL" dirty="0"/>
              <a:t> 	מורות </a:t>
            </a:r>
          </a:p>
          <a:p>
            <a:pPr marL="0" indent="0">
              <a:buNone/>
            </a:pPr>
            <a:r>
              <a:rPr lang="he-IL" dirty="0"/>
              <a:t>	תלמידות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he-IL" dirty="0"/>
              <a:t>צוות ניהולי + טיפולי – יתבצע בשלב עתידני</a:t>
            </a:r>
          </a:p>
          <a:p>
            <a:pPr marL="0" indent="0">
              <a:buNone/>
            </a:pPr>
            <a:r>
              <a:rPr lang="he-IL" dirty="0"/>
              <a:t>	צוות ניהול האתר – יתבצע בשלב עתידני</a:t>
            </a:r>
          </a:p>
          <a:p>
            <a:pPr marL="0" indent="0">
              <a:buNone/>
            </a:pPr>
            <a:r>
              <a:rPr lang="he-IL" dirty="0"/>
              <a:t>לכל תפקיד במערכת קיימת גישה רק לאזורי האחריות שלו. בנוסף, תפקידים בדרגה גבוהה יותר מקבלים גם הרשאות גישה לאזורים נוספים לפי הצורך.</a:t>
            </a:r>
          </a:p>
        </p:txBody>
      </p:sp>
    </p:spTree>
    <p:extLst>
      <p:ext uri="{BB962C8B-B14F-4D97-AF65-F5344CB8AC3E}">
        <p14:creationId xmlns:p14="http://schemas.microsoft.com/office/powerpoint/2010/main" val="397194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380029-F44D-CF56-9C81-9CDF79E2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משתמשים - </a:t>
            </a:r>
            <a:r>
              <a:rPr lang="en-US" dirty="0"/>
              <a:t>Users</a:t>
            </a:r>
            <a:r>
              <a:rPr lang="he-IL" dirty="0"/>
              <a:t>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09FBCB5-0487-CE81-EBAC-5954DD6D3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661605"/>
              </p:ext>
            </p:extLst>
          </p:nvPr>
        </p:nvGraphicFramePr>
        <p:xfrm>
          <a:off x="794117" y="1786036"/>
          <a:ext cx="10515600" cy="4010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שם משתמש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passwordHasH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הסיסמא נשמרת במסד הנתונים בצורה מוצפנת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role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Enum: [“student, teacher , </a:t>
                      </a:r>
                      <a:r>
                        <a:rPr lang="en-US"/>
                        <a:t>"manager“, "therapist</a:t>
                      </a:r>
                      <a:r>
                        <a:rPr lang="en-US" dirty="0"/>
                        <a:t>", admin”]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status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Boolean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משתמש פעיל או לא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classId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ObjectId</a:t>
                      </a:r>
                      <a:r>
                        <a:rPr lang="en-US" dirty="0"/>
                        <a:t>[]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רק עבור מורה – הכיתה שהוא מורה שלהם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phone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מס' הטלפון של המשתמש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/>
                        <a:t>createdAt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dirty="0"/>
                        <a:t> נוצר בצורה אוטומטי ב </a:t>
                      </a:r>
                      <a:r>
                        <a:rPr lang="en-US" dirty="0"/>
                        <a:t>MongoDB</a:t>
                      </a:r>
                      <a:r>
                        <a:rPr lang="he-IL" dirty="0"/>
                        <a:t> ע"י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timestamps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3248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/>
                        <a:t>updatedAt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dirty="0"/>
                        <a:t>נוצר בצורה אוטומטי ב </a:t>
                      </a:r>
                      <a:r>
                        <a:rPr lang="en-US" dirty="0"/>
                        <a:t>MongoDB</a:t>
                      </a:r>
                      <a:r>
                        <a:rPr lang="he-IL" dirty="0"/>
                        <a:t> ע"י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timestamps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238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708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0837D-1B66-718C-2054-B944F92D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9194C18-AC6D-02D3-D997-08EF012A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כיתות - </a:t>
            </a:r>
            <a:r>
              <a:rPr lang="en-US" dirty="0" err="1"/>
              <a:t>Clasess</a:t>
            </a:r>
            <a:r>
              <a:rPr lang="he-IL" dirty="0"/>
              <a:t>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E7301D3D-0C0A-632C-2C71-AD0C5BC7E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384350"/>
              </p:ext>
            </p:extLst>
          </p:nvPr>
        </p:nvGraphicFramePr>
        <p:xfrm>
          <a:off x="794117" y="1786036"/>
          <a:ext cx="10515600" cy="1604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grade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teacherId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הסיסמא נשמרת במסד הנתונים בצורה מוצפנת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6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FE49-FC50-9B24-262D-64378605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D96BC4-A032-68C4-B4A3-DD7BB38C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מקצועות - </a:t>
            </a:r>
            <a:r>
              <a:rPr lang="en-US" dirty="0"/>
              <a:t>Subject</a:t>
            </a:r>
            <a:r>
              <a:rPr lang="he-IL" dirty="0"/>
              <a:t>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CC21DCDE-BCB4-D5E0-C7DA-F0E28A004B44}"/>
              </a:ext>
            </a:extLst>
          </p:cNvPr>
          <p:cNvGraphicFramePr>
            <a:graphicFrameLocks noGrp="1"/>
          </p:cNvGraphicFramePr>
          <p:nvPr/>
        </p:nvGraphicFramePr>
        <p:xfrm>
          <a:off x="794117" y="1786036"/>
          <a:ext cx="10515600" cy="1604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grade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teacherId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הסיסמא נשמרת במסד הנתונים בצורה מוצפנת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374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403BC-7D2D-7D6C-E785-5A2B5732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275283-9FB4-FE3C-0DD9-E18AD793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שיעורים - </a:t>
            </a:r>
            <a:r>
              <a:rPr lang="en-US" dirty="0"/>
              <a:t>Lessons</a:t>
            </a:r>
            <a:r>
              <a:rPr lang="he-IL" dirty="0"/>
              <a:t>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BE62AA62-526D-AF0F-A756-1130C738B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418023"/>
              </p:ext>
            </p:extLst>
          </p:nvPr>
        </p:nvGraphicFramePr>
        <p:xfrm>
          <a:off x="794117" y="1786036"/>
          <a:ext cx="10515600" cy="2406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classId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subjetId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8712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teacherId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142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14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2F13-1B11-8F90-A276-27D4DF1F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D291A8-AAC9-8D12-28FB-68F0C538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כללי כיתה -</a:t>
            </a:r>
            <a:r>
              <a:rPr lang="en-US" dirty="0" err="1"/>
              <a:t>RulesClass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1DB0E66A-64A1-C476-293E-5C286A8A000B}"/>
              </a:ext>
            </a:extLst>
          </p:cNvPr>
          <p:cNvGraphicFramePr>
            <a:graphicFrameLocks noGrp="1"/>
          </p:cNvGraphicFramePr>
          <p:nvPr/>
        </p:nvGraphicFramePr>
        <p:xfrm>
          <a:off x="794117" y="1786036"/>
          <a:ext cx="10515600" cy="4010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 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status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Boolean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createdAt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updatedAt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46869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32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690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C17D-E4D3-6FAE-CB96-53C10DFB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4DBCB6-1C19-845A-B73A-2CA7F900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ניקוד יומי -</a:t>
            </a:r>
            <a:r>
              <a:rPr lang="en-US" dirty="0" err="1"/>
              <a:t>DalyScores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AED26170-2E5E-8FCC-E77E-FE0D232FA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081960"/>
              </p:ext>
            </p:extLst>
          </p:nvPr>
        </p:nvGraphicFramePr>
        <p:xfrm>
          <a:off x="794117" y="1786036"/>
          <a:ext cx="10515600" cy="3208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studentId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 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classId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lessonId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ruleId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score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teacherId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30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48B7C-D474-0DB4-C8CE-1743E313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81C55A-733F-3304-0E36-0F775542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סיכום שבועי - </a:t>
            </a:r>
            <a:r>
              <a:rPr lang="en-US" dirty="0" err="1"/>
              <a:t>WeeklySummeries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FA00E33F-22AC-7815-7DB6-4EFF13C10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67292"/>
              </p:ext>
            </p:extLst>
          </p:nvPr>
        </p:nvGraphicFramePr>
        <p:xfrm>
          <a:off x="794117" y="1786036"/>
          <a:ext cx="10515600" cy="2807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studentId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 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weekId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פרשות שבוע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totalPoints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כמות נקודות שהתלמידה צברה השבוע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isExcellent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bool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האם היא מצטיינת שבוע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vouchersGranted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כמות שוברים שקיבלה השבוע (0,1,2)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certificateGranted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bool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האם קיבלה תעודת הצטיינות השבוע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872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29F7-EB1E-FC48-2AB2-10989BF3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59A9A3-83D9-6FCF-D989-30BC1A48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סוגי מקצועות - </a:t>
            </a:r>
            <a:r>
              <a:rPr lang="en-US" dirty="0" err="1"/>
              <a:t>SubjectsTypes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0024107C-458D-67E9-0F0F-C84410AE6C8C}"/>
              </a:ext>
            </a:extLst>
          </p:cNvPr>
          <p:cNvGraphicFramePr>
            <a:graphicFrameLocks noGrp="1"/>
          </p:cNvGraphicFramePr>
          <p:nvPr/>
        </p:nvGraphicFramePr>
        <p:xfrm>
          <a:off x="794117" y="1786036"/>
          <a:ext cx="10515600" cy="2807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studentId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 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weekId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פרשות שבוע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totalPoints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כמות נקודות שהתלמידה צברה השבוע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isExcellent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bool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האם היא מצטיינת שבוע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vouchersGranted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כמות שוברים שקיבלה השבוע (0,1,2)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certificateGranted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bool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האם קיבלה תעודת הצטיינות השבוע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789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120DA-F827-2A42-50CD-A53BB3D0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531A4D-F812-E485-1DFE-EA80CD6C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סוגי התנהגויות -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142C0C5D-F9A1-EEFF-32A2-7874ACEA5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607508"/>
              </p:ext>
            </p:extLst>
          </p:nvPr>
        </p:nvGraphicFramePr>
        <p:xfrm>
          <a:off x="794117" y="1786036"/>
          <a:ext cx="10515600" cy="1604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serverity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רמת החומרה של ההתנהגות החריגה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46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3D254-7527-92C4-D353-97D8E3F7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D3D584-CE5A-F789-F28E-4E54E940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התנהגות חריגה -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E0108031-BC6C-1AA7-31B0-5B65D49BD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12200"/>
              </p:ext>
            </p:extLst>
          </p:nvPr>
        </p:nvGraphicFramePr>
        <p:xfrm>
          <a:off x="794117" y="1786036"/>
          <a:ext cx="10515600" cy="3208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studentId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dirty="0"/>
                        <a:t> קישור לטבלת משתמשים (תלמידה)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lessonId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שיעורים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behaviorTypeId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סוגי התנהגויות חריגות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freeText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טקסט חופשי של המורה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teacherId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[]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משתמשים (מורה)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createdAt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updatedAt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19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886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5C9398-07CB-E8FF-DF35-DFCE2A99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שוברים - </a:t>
            </a:r>
            <a:r>
              <a:rPr lang="en-US" dirty="0"/>
              <a:t>Vouchers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BC17E188-FCDF-A520-ABE2-8BD886D28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666815"/>
              </p:ext>
            </p:extLst>
          </p:nvPr>
        </p:nvGraphicFramePr>
        <p:xfrm>
          <a:off x="794117" y="1786036"/>
          <a:ext cx="10515600" cy="3609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studentId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objectId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משתמשים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teacher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objectId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קישור לטבלת משתמשים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order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הזמנות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05179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certificatePriod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objectId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תקופות הצטיינות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63839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createdAt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UpdatedAt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961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710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146FC5-2EFD-0B4C-9C0B-20E06A3E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תעודות הצטיינות - </a:t>
            </a:r>
            <a:r>
              <a:rPr lang="en-US" dirty="0" err="1"/>
              <a:t>ExcellenceCertificate</a:t>
            </a:r>
            <a:r>
              <a:rPr lang="en-US" dirty="0"/>
              <a:t> </a:t>
            </a:r>
            <a:r>
              <a:rPr lang="he-IL" dirty="0"/>
              <a:t>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250137C1-D9FF-7B7B-5D39-C638B1BD9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356477"/>
              </p:ext>
            </p:extLst>
          </p:nvPr>
        </p:nvGraphicFramePr>
        <p:xfrm>
          <a:off x="794117" y="1786036"/>
          <a:ext cx="10515600" cy="3208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student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objectId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משתמשים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issuedBy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 err="1"/>
                        <a:t>objectId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 </a:t>
                      </a:r>
                      <a:r>
                        <a:rPr lang="he-IL" dirty="0"/>
                        <a:t>קישור לטבלת משתמשים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peroidStart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תאריך התחלת תקופת ספירת השוברים לצורך תעודת הצטיינות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periodEnd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dirty="0"/>
                        <a:t>תאריך סיום תקופת ספירת השוברים לצורך תעודת הצטיינות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createdAt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96199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updatedAt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110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05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726F53-8867-41DE-4D2A-2CB3E16CF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תקופות הצטיינות - </a:t>
            </a:r>
            <a:r>
              <a:rPr lang="en-US" dirty="0" err="1"/>
              <a:t>certificatePeriod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1798A433-9DEA-320A-C2F2-6D5F549CC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612881"/>
              </p:ext>
            </p:extLst>
          </p:nvPr>
        </p:nvGraphicFramePr>
        <p:xfrm>
          <a:off x="794117" y="1786036"/>
          <a:ext cx="10515600" cy="4127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הצגה נעימה יותר למשתמש כשיש שם לתקופה (מחצית א וכו')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startDate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Date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endDate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maxVoucher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dirty="0"/>
                        <a:t>מספר השוברים המקסימלי שאפשר ליצור בתקופה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requiredForCertificate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מספר השוברים המינימלי עבור קבלת תעודת הצטיינות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96199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isActive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האם התקופה פעילה כרגע (התאריך היום נמצא בטווח התאריכים של התקופה)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11048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createdAt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35502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updatedAt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885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297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F35716-B020-D5F3-04CA-0307E733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מוצרים - </a:t>
            </a:r>
            <a:r>
              <a:rPr lang="en-US" dirty="0"/>
              <a:t>Products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1933413-07FF-51B5-C27E-EAECC75DD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7B21208-296E-F976-231B-BDA68241D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406767"/>
              </p:ext>
            </p:extLst>
          </p:nvPr>
        </p:nvGraphicFramePr>
        <p:xfrm>
          <a:off x="794117" y="1786036"/>
          <a:ext cx="10515600" cy="481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שם מוצר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category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objectId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קטגוריות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description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תיאור של המוצר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imageUrl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לתמונה של המוצר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costInVouchers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עלות בשוברים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stock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כמות במלאי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/>
                        <a:t>purchasesCount</a:t>
                      </a: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כמה נמכר, לצורך חישוב הפריטים הפופולאריים ביותר וכו'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46869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/>
                        <a:t>status</a:t>
                      </a: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boolean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פריט קיים או לא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3248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createdAt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6306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upsatedAt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16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22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0C197B-5047-9798-1157-4910EF03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קטגוריות - </a:t>
            </a:r>
            <a:r>
              <a:rPr lang="en-US" dirty="0"/>
              <a:t>Categories</a:t>
            </a:r>
            <a:r>
              <a:rPr lang="he-IL" dirty="0"/>
              <a:t>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11D17E4C-B3AD-6DBC-3E95-63EAAD059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751936"/>
              </p:ext>
            </p:extLst>
          </p:nvPr>
        </p:nvGraphicFramePr>
        <p:xfrm>
          <a:off x="794117" y="1786036"/>
          <a:ext cx="10515600" cy="4010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 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status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Boolean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createdAt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updatedAt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46869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32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317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591034-2CFA-7894-D23F-96C10571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הזמנות - </a:t>
            </a:r>
            <a:r>
              <a:rPr lang="en-US" dirty="0"/>
              <a:t>Orders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3BA63D4-F3B6-29E9-B422-D993BBBF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10DA59C5-E60D-A46C-97B9-BC086E63E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983102"/>
              </p:ext>
            </p:extLst>
          </p:nvPr>
        </p:nvGraphicFramePr>
        <p:xfrm>
          <a:off x="794117" y="1786036"/>
          <a:ext cx="10515600" cy="481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student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objectId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משתמשים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items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OrderItem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פריטים מסוג </a:t>
                      </a:r>
                      <a:r>
                        <a:rPr lang="he-IL" dirty="0" err="1"/>
                        <a:t>הקולציה</a:t>
                      </a:r>
                      <a:r>
                        <a:rPr lang="he-IL" dirty="0"/>
                        <a:t> </a:t>
                      </a:r>
                      <a:r>
                        <a:rPr lang="en-US" dirty="0" err="1"/>
                        <a:t>OrderItem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description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imageUrl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costInVouchers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stock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 err="1"/>
                        <a:t>purchasesCount</a:t>
                      </a: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כמה נמכר, לצורך חישוב הפריטים הפופולאריים ביותר וכו'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46869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/>
                        <a:t>status</a:t>
                      </a: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["draft", "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pendingApproval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", "approved", "delivered"],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3248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createdAt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6306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upsatedAt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16987"/>
                  </a:ext>
                </a:extLst>
              </a:tr>
            </a:tbl>
          </a:graphicData>
        </a:graphic>
      </p:graphicFrame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59169CF2-1142-D8BB-7AE3-651A67ED7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311204"/>
              </p:ext>
            </p:extLst>
          </p:nvPr>
        </p:nvGraphicFramePr>
        <p:xfrm>
          <a:off x="126385" y="365125"/>
          <a:ext cx="6368684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0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370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37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product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ObjectId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dirty="0"/>
                        <a:t>קישור לטבלת מוצרים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37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priceAtOrder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מלבן 7">
            <a:extLst>
              <a:ext uri="{FF2B5EF4-FFF2-40B4-BE49-F238E27FC236}">
                <a16:creationId xmlns:a16="http://schemas.microsoft.com/office/drawing/2014/main" id="{BB2B8019-1366-DC8D-A1FB-B405BCF30109}"/>
              </a:ext>
            </a:extLst>
          </p:cNvPr>
          <p:cNvSpPr/>
          <p:nvPr/>
        </p:nvSpPr>
        <p:spPr>
          <a:xfrm>
            <a:off x="1615972" y="26571"/>
            <a:ext cx="322857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1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קולקצית</a:t>
            </a:r>
            <a:r>
              <a:rPr lang="he-IL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OrderIte</a:t>
            </a:r>
            <a:r>
              <a:rPr lang="en-US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</a:t>
            </a:r>
            <a:r>
              <a:rPr lang="he-IL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לא נוצרת טבלה !</a:t>
            </a:r>
          </a:p>
        </p:txBody>
      </p:sp>
    </p:spTree>
    <p:extLst>
      <p:ext uri="{BB962C8B-B14F-4D97-AF65-F5344CB8AC3E}">
        <p14:creationId xmlns:p14="http://schemas.microsoft.com/office/powerpoint/2010/main" val="3075152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0F2A54-061A-FBA2-010C-344EBB5C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רעיונות - </a:t>
            </a:r>
            <a:r>
              <a:rPr lang="en-US" dirty="0"/>
              <a:t>Ideas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C3E5978C-2776-D8BB-B8C6-785D81A76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283223"/>
              </p:ext>
            </p:extLst>
          </p:nvPr>
        </p:nvGraphicFramePr>
        <p:xfrm>
          <a:off x="794117" y="1786036"/>
          <a:ext cx="10515600" cy="3208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student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objectId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קישור לטבלת תלמידות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text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תיאור הרעיון של התלמידה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seen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Boolean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האם הצוות ראה את זה או לא =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isActive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Boolean 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האם הרעיון אושר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910359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createdAt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811249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updatedAt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56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583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AF548B-0BF3-4E2D-47EB-511A81AE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הגדרות - </a:t>
            </a:r>
            <a:r>
              <a:rPr lang="en-US" dirty="0"/>
              <a:t>Settings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DA1020C8-2E96-40B7-D4A5-6EA2FF15E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685300"/>
              </p:ext>
            </p:extLst>
          </p:nvPr>
        </p:nvGraphicFramePr>
        <p:xfrm>
          <a:off x="794117" y="1786036"/>
          <a:ext cx="10515600" cy="2807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siteActiveFrom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 | Null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siteActiveTo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 |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isRedeemOpen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Boolean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dirty="0"/>
                        <a:t>האם האתר פתוח כרגע למימוש שוברים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KioskInfo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purchesRules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961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677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2B40-B156-5D3D-4176-0D2931D5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2C9995-2041-9D03-00F4-5F60F388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הודעות מצוות -</a:t>
            </a:r>
            <a:r>
              <a:rPr lang="en-US" dirty="0"/>
              <a:t>   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9F844C46-9FE9-3F84-4ACC-CDF90A9CA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15071"/>
              </p:ext>
            </p:extLst>
          </p:nvPr>
        </p:nvGraphicFramePr>
        <p:xfrm>
          <a:off x="794117" y="1786036"/>
          <a:ext cx="10515600" cy="3726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fromUserId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ObjectId</a:t>
                      </a:r>
                      <a:r>
                        <a:rPr lang="en-US" dirty="0"/>
                        <a:t>[]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toStudentId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ObjectId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type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ישנם סוגי הודעות כמו: הערה, הארה וכו'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content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isRead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he-IL" b="0" dirty="0">
                          <a:solidFill>
                            <a:schemeClr val="tx1"/>
                          </a:solidFill>
                        </a:rPr>
                        <a:t>האם ההודעה נקראה, לצורך סימון במודגש הודעות שלא נקראו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96199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createdAt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63845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updatedAt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307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926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A204-B2E1-C128-6CD3-23F4A818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B22A0B-988C-E956-CFAA-E3B2E3B9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שבועות -</a:t>
            </a:r>
            <a:r>
              <a:rPr lang="en-US" dirty="0"/>
              <a:t>   </a:t>
            </a:r>
            <a:endParaRPr lang="he-IL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1940008B-C45E-6378-A8B0-168A88D1D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58125"/>
              </p:ext>
            </p:extLst>
          </p:nvPr>
        </p:nvGraphicFramePr>
        <p:xfrm>
          <a:off x="794117" y="1786036"/>
          <a:ext cx="10515600" cy="2406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053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dirty="0"/>
                        <a:t>Notes / K</a:t>
                      </a:r>
                      <a:r>
                        <a:rPr lang="en-US" dirty="0"/>
                        <a:t>eys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Number(PK)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dirty="0"/>
                        <a:t>Primary Key</a:t>
                      </a:r>
                      <a:r>
                        <a:rPr lang="he-IL" dirty="0"/>
                        <a:t> נוצר אוטומטית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startDate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dirty="0"/>
                        <a:t>תאריך ההתחלה של השבוע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endDate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תאריך סיום של השבוע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parashaName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String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he-IL" dirty="0"/>
                        <a:t>שם פרשת השבוע לצורך זיהוי השבועות לפי פרשת השבוע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53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 err="1"/>
                        <a:t>periodId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Object[]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323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45E7BA-4CB3-6A29-FA83-95BD493C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קשרים בין טבלאות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81A47D8-F9FC-90A2-78A3-28B1ACD04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Teachers</a:t>
            </a:r>
            <a:r>
              <a:rPr lang="he-IL" dirty="0"/>
              <a:t> -&gt; אחד לרבים לטבלת </a:t>
            </a:r>
            <a:r>
              <a:rPr lang="en-US" dirty="0"/>
              <a:t>Students </a:t>
            </a:r>
            <a:endParaRPr lang="he-IL" dirty="0"/>
          </a:p>
          <a:p>
            <a:r>
              <a:rPr lang="en-US" dirty="0"/>
              <a:t>Orders</a:t>
            </a:r>
            <a:r>
              <a:rPr lang="he-IL" dirty="0"/>
              <a:t> -&gt; רבים ליחיד לטבלת </a:t>
            </a:r>
            <a:r>
              <a:rPr lang="en-US" dirty="0"/>
              <a:t>Student</a:t>
            </a:r>
          </a:p>
          <a:p>
            <a:r>
              <a:rPr lang="en-US" dirty="0"/>
              <a:t>Orders</a:t>
            </a:r>
            <a:r>
              <a:rPr lang="he-IL" dirty="0"/>
              <a:t> -&gt; יחיד לרבים לטבלת </a:t>
            </a:r>
            <a:r>
              <a:rPr lang="en-US" dirty="0"/>
              <a:t>Products</a:t>
            </a:r>
          </a:p>
          <a:p>
            <a:r>
              <a:rPr lang="en-US" dirty="0"/>
              <a:t>Products</a:t>
            </a:r>
            <a:r>
              <a:rPr lang="he-IL" dirty="0"/>
              <a:t> -&gt; רבים ליחיד לטבלת </a:t>
            </a:r>
            <a:r>
              <a:rPr lang="en-US" dirty="0"/>
              <a:t>Categories</a:t>
            </a:r>
          </a:p>
          <a:p>
            <a:r>
              <a:rPr lang="en-US" dirty="0"/>
              <a:t>Ideas</a:t>
            </a:r>
            <a:r>
              <a:rPr lang="he-IL" dirty="0"/>
              <a:t> -&gt; רבים ליחיד לטבלת </a:t>
            </a:r>
            <a:r>
              <a:rPr lang="en-US" dirty="0"/>
              <a:t>Students</a:t>
            </a:r>
          </a:p>
          <a:p>
            <a:r>
              <a:rPr lang="en-US" dirty="0"/>
              <a:t>Vouchers</a:t>
            </a:r>
            <a:r>
              <a:rPr lang="he-IL" dirty="0"/>
              <a:t> -&gt; רבים ליחיד לטבלאות </a:t>
            </a:r>
            <a:r>
              <a:rPr lang="en-US" dirty="0"/>
              <a:t>Students, Teachers, Orders, </a:t>
            </a:r>
            <a:r>
              <a:rPr lang="en-US" dirty="0" err="1"/>
              <a:t>certificatePeriods</a:t>
            </a:r>
            <a:endParaRPr lang="en-US" dirty="0"/>
          </a:p>
          <a:p>
            <a:r>
              <a:rPr lang="en-US" dirty="0" err="1"/>
              <a:t>weeklyPointsLogs</a:t>
            </a:r>
            <a:r>
              <a:rPr lang="he-IL" dirty="0"/>
              <a:t> -&gt; רבים ליחיד לטבלת </a:t>
            </a:r>
            <a:r>
              <a:rPr lang="en-US" dirty="0"/>
              <a:t>Students, Teachers(Admins)</a:t>
            </a:r>
          </a:p>
          <a:p>
            <a:r>
              <a:rPr lang="en-US" dirty="0"/>
              <a:t>Notes</a:t>
            </a:r>
            <a:r>
              <a:rPr lang="he-IL" dirty="0"/>
              <a:t> -&gt; רבים ליחיד לטבלאות </a:t>
            </a:r>
            <a:r>
              <a:rPr lang="en-US" dirty="0"/>
              <a:t>Students, Teachers</a:t>
            </a:r>
          </a:p>
          <a:p>
            <a:r>
              <a:rPr lang="en-US" dirty="0" err="1"/>
              <a:t>excellenceCertificate</a:t>
            </a:r>
            <a:r>
              <a:rPr lang="he-IL" dirty="0"/>
              <a:t> -&gt; רבים ליחיד לטבלאות </a:t>
            </a:r>
            <a:r>
              <a:rPr lang="en-US" dirty="0"/>
              <a:t>Students, Teachers</a:t>
            </a:r>
            <a:endParaRPr lang="he-IL" dirty="0"/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56188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755746-8DD0-39CA-B5C1-58C2992F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0841849-450E-5FBD-0F9B-9835AC8AB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3511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9448FA-EEE1-0DAC-2B5E-9EA5548A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95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Thank you! </a:t>
            </a:r>
            <a:endParaRPr lang="he-IL" sz="7200" b="1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8E0F646-E227-3D42-8BFB-6DF312D41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3558"/>
            <a:ext cx="3656804" cy="3899767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32793686-13C6-CAD9-CA18-F6CA4D2F4667}"/>
              </a:ext>
            </a:extLst>
          </p:cNvPr>
          <p:cNvSpPr/>
          <p:nvPr/>
        </p:nvSpPr>
        <p:spPr>
          <a:xfrm>
            <a:off x="7393646" y="4475623"/>
            <a:ext cx="3946914" cy="196977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Sara Hartuv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</a:rPr>
              <a:t>sarahartuv1@gmail.com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 </a:t>
            </a:r>
          </a:p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10/12/25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adley Hand ITC" panose="03070402050302030203" pitchFamily="66" charset="0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3782842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4282</TotalTime>
  <Words>1511</Words>
  <Application>Microsoft Office PowerPoint</Application>
  <PresentationFormat>מסך רחב</PresentationFormat>
  <Paragraphs>483</Paragraphs>
  <Slides>28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3" baseType="lpstr">
      <vt:lpstr>Arial</vt:lpstr>
      <vt:lpstr>Bradley Hand ITC</vt:lpstr>
      <vt:lpstr>Calibri</vt:lpstr>
      <vt:lpstr>Calibri Light</vt:lpstr>
      <vt:lpstr>ערכת נושא Office</vt:lpstr>
      <vt:lpstr>פרויקט עיצוב התנהגות</vt:lpstr>
      <vt:lpstr>ניהול הדטה בייס</vt:lpstr>
      <vt:lpstr>עקרונות מבנה ה DB </vt:lpstr>
      <vt:lpstr>איך המבנה תומך במערכת בפועל ?</vt:lpstr>
      <vt:lpstr>סוגי משתמשים </vt:lpstr>
      <vt:lpstr>טבלת משתמשים - Users </vt:lpstr>
      <vt:lpstr>טבלת כיתות - Clasess </vt:lpstr>
      <vt:lpstr>טבלת מקצועות - Subject </vt:lpstr>
      <vt:lpstr>טבלת שיעורים - Lessons </vt:lpstr>
      <vt:lpstr>טבלת כללי כיתה -RulesClass</vt:lpstr>
      <vt:lpstr>טבלת ניקוד יומי -DalyScores</vt:lpstr>
      <vt:lpstr>טבלת סיכום שבועי - WeeklySummeries</vt:lpstr>
      <vt:lpstr>טבלת סוגי מקצועות - SubjectsTypes</vt:lpstr>
      <vt:lpstr>טבלת סוגי התנהגויות - </vt:lpstr>
      <vt:lpstr>טבלת התנהגות חריגה - </vt:lpstr>
      <vt:lpstr>טבלת שוברים - Vouchers</vt:lpstr>
      <vt:lpstr>טבלת תעודות הצטיינות - ExcellenceCertificate  </vt:lpstr>
      <vt:lpstr>טבלת תקופות הצטיינות - certificatePeriod</vt:lpstr>
      <vt:lpstr>טבלת מוצרים - Products </vt:lpstr>
      <vt:lpstr>טבלת קטגוריות - Categories </vt:lpstr>
      <vt:lpstr>טבלת הזמנות - Orders</vt:lpstr>
      <vt:lpstr>טבלת רעיונות - Ideas</vt:lpstr>
      <vt:lpstr>טבלת הגדרות - Settings</vt:lpstr>
      <vt:lpstr>טבלת הודעות מצוות -   </vt:lpstr>
      <vt:lpstr>טבלת שבועות -   </vt:lpstr>
      <vt:lpstr>קשרים בין טבלאות</vt:lpstr>
      <vt:lpstr>מצגת של PowerPoint‏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8</cp:revision>
  <dcterms:created xsi:type="dcterms:W3CDTF">2025-12-04T11:29:59Z</dcterms:created>
  <dcterms:modified xsi:type="dcterms:W3CDTF">2026-02-19T12:13:09Z</dcterms:modified>
</cp:coreProperties>
</file>