
<file path=[Content_Types].xml><?xml version="1.0" encoding="utf-8"?>
<Types xmlns="http://schemas.openxmlformats.org/package/2006/content-types"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25"/>
  </p:notesMasterIdLst>
  <p:sldIdLst>
    <p:sldId id="256" r:id="rId2"/>
    <p:sldId id="265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1" r:id="rId19"/>
    <p:sldId id="282" r:id="rId20"/>
    <p:sldId id="283" r:id="rId21"/>
    <p:sldId id="284" r:id="rId22"/>
    <p:sldId id="285" r:id="rId23"/>
    <p:sldId id="286" r:id="rId24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500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955A3782-EC98-4CD5-B4ED-BF95D5430A61}" type="datetimeFigureOut">
              <a:rPr lang="he-IL" smtClean="0"/>
              <a:t>ט"ז/שבט/תשפ"ו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8060B56F-2397-451C-B624-2F02EEC03C5E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93500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he-IL" dirty="0"/>
              <a:t>אולי לאחד את טבלת רעיונות עם טבלת הודעות ?</a:t>
            </a: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60B56F-2397-451C-B624-2F02EEC03C5E}" type="slidenum">
              <a:rPr lang="he-IL" smtClean="0"/>
              <a:t>12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931419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04A97B7-1769-1B58-CD73-DFDD450BF5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56A7B23C-DFBA-3230-3DEF-0DA5B6135B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8E0B4B4-42E1-4547-2641-01652C5F3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B40DE-C2A9-41DE-88C9-DFA4BEE0455F}" type="datetimeFigureOut">
              <a:rPr lang="he-IL" smtClean="0"/>
              <a:t>ט"ז/שבט/תשפ"ו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C5D268F-CBE9-1A1E-B65A-9CB06EA29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BAF6C9E-7FD8-1E55-E318-620A7710F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8A598-01B7-451D-B588-CE18F0CBCD5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783984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4879E4F-B2F4-6FF9-C1C3-C2D7FABF5A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2FC80C6-09F7-8A05-4B1E-9D62F101B0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E7F83AE9-42FF-473D-4586-273BE4A57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B40DE-C2A9-41DE-88C9-DFA4BEE0455F}" type="datetimeFigureOut">
              <a:rPr lang="he-IL" smtClean="0"/>
              <a:t>ט"ז/שבט/תשפ"ו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FDFFE114-78CE-AF55-9183-0CF5C7323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0387AA5-846F-30BC-87BD-BFEE8E55F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8A598-01B7-451D-B588-CE18F0CBCD5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548364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5B0DA67-9B5C-EFC9-7FF1-B07D4F7C8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65BD5F2A-9F5A-EE23-5B2E-B1828657C6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C87D11C-2920-ECC2-21BB-358020F71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B40DE-C2A9-41DE-88C9-DFA4BEE0455F}" type="datetimeFigureOut">
              <a:rPr lang="he-IL" smtClean="0"/>
              <a:t>ט"ז/שבט/תשפ"ו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3A61DA4-5611-20F1-4CC4-7E6D5F80DC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CA3CDF2-A785-1EC4-FBC8-164720607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8A598-01B7-451D-B588-CE18F0CBCD5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45113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EF0E8FE-0B9E-E652-96CC-6441E54409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10C5FD2-51D7-7860-DEF3-9DF96A68090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0BAD4001-4A35-BE4A-E91F-90A8128C03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250E5E7-8A07-586F-02E6-FA5422782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B40DE-C2A9-41DE-88C9-DFA4BEE0455F}" type="datetimeFigureOut">
              <a:rPr lang="he-IL" smtClean="0"/>
              <a:t>ט"ז/שבט/תשפ"ו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AEC48AA-2EA1-82C1-FBAF-0A840DAAF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57C8242-30C6-CB31-2D42-5AA82A9D8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8A598-01B7-451D-B588-CE18F0CBCD5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107769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5D9A83D-5F1D-3516-AB1A-1D73B56FC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7D3F60FB-3C54-5778-E581-31E487B3B9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1E514B54-DCD5-9AFA-D6F1-AC94C80399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30269974-95F6-0CC1-724B-856C923AA6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933B774E-1DA9-0587-B572-87EEFCC792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ABD6A29D-C1F6-5982-B7F4-75F09F84A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B40DE-C2A9-41DE-88C9-DFA4BEE0455F}" type="datetimeFigureOut">
              <a:rPr lang="he-IL" smtClean="0"/>
              <a:t>ט"ז/שבט/תשפ"ו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5A603A1E-7930-A6E3-0913-CB842072D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D9CC39B5-4389-4712-54EB-F51680CDD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8A598-01B7-451D-B588-CE18F0CBCD5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853237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5E7E149-15C0-8739-E3D9-AACA33649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41B01BD6-3953-2C8D-8FBC-20851C493A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B40DE-C2A9-41DE-88C9-DFA4BEE0455F}" type="datetimeFigureOut">
              <a:rPr lang="he-IL" smtClean="0"/>
              <a:t>ט"ז/שבט/תשפ"ו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14047D6C-50A4-1270-7B54-8EC5EC0322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C1745951-922D-B902-825B-D5571C69F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8A598-01B7-451D-B588-CE18F0CBCD5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652321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6B4CD000-BA83-168C-3E0C-9B7FEEF187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B40DE-C2A9-41DE-88C9-DFA4BEE0455F}" type="datetimeFigureOut">
              <a:rPr lang="he-IL" smtClean="0"/>
              <a:t>ט"ז/שבט/תשפ"ו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B97207C4-8972-594D-39BC-71742266F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03254802-CD32-B4FC-7F86-A8EC94653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8A598-01B7-451D-B588-CE18F0CBCD5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8074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A11BFE7F-4607-4988-0DFC-E809C17B7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3162B38-F082-85EE-D888-5DD7B88D1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E1EEE918-FD3B-401B-4280-9F6F71A563F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AC4A435F-B779-3B49-6FB5-080889004E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B40DE-C2A9-41DE-88C9-DFA4BEE0455F}" type="datetimeFigureOut">
              <a:rPr lang="he-IL" smtClean="0"/>
              <a:t>ט"ז/שבט/תשפ"ו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633AF9F3-BA5D-FB9C-6F1D-DCD23B47A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12D519F-B717-A766-9B55-76F91E3E54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8A598-01B7-451D-B588-CE18F0CBCD5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354254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66274870-9903-DF15-E4C4-A9632A712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D7B182BE-CE63-EF42-477A-0F122FD9243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ADAE05C-6741-8E29-4F86-A108195AE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78F1DF7C-919D-7373-CE0A-2DB39F6A1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B40DE-C2A9-41DE-88C9-DFA4BEE0455F}" type="datetimeFigureOut">
              <a:rPr lang="he-IL" smtClean="0"/>
              <a:t>ט"ז/שבט/תשפ"ו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E4DF6BA0-45E0-84FC-A06B-4F0B5023D6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F5F996A-20AD-D7C8-DFA7-CA9E81F21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8A598-01B7-451D-B588-CE18F0CBCD5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743326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E6556D4-0DF3-3716-FB0F-41635AAC8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67033CC2-D89B-308F-8823-6796619D9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E9782A7-C10F-4C94-0033-1AFF07B0A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B40DE-C2A9-41DE-88C9-DFA4BEE0455F}" type="datetimeFigureOut">
              <a:rPr lang="he-IL" smtClean="0"/>
              <a:t>ט"ז/שבט/תשפ"ו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E8ACA99D-C917-F591-3C49-29978A6CD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D47333C-E26A-5DA3-D37D-ACF7D431D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8A598-01B7-451D-B588-CE18F0CBCD5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32929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422B6A90-8D76-00E6-041B-44AB721126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B9D8C4EB-323D-3431-11AD-53B071A91A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B1F5040-6C35-96E5-40DB-AAF4537B9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B40DE-C2A9-41DE-88C9-DFA4BEE0455F}" type="datetimeFigureOut">
              <a:rPr lang="he-IL" smtClean="0"/>
              <a:t>ט"ז/שבט/תשפ"ו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A3843363-B852-327E-98CC-94C613177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C404DD3-A98F-A794-0CC1-665D9609A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8A598-01B7-451D-B588-CE18F0CBCD5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36085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DD40232C-80AA-17EE-E2C0-B99086A95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9F11236-AF9D-023D-8A20-ABEA37267F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A329EAD-AC9B-A715-DC50-7B342448EA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3B40DE-C2A9-41DE-88C9-DFA4BEE0455F}" type="datetimeFigureOut">
              <a:rPr lang="he-IL" smtClean="0"/>
              <a:t>ט"ז/שבט/תשפ"ו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CC7C86A-EC77-4DFD-FB56-D393B91852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DD1F9F2-B8DE-21A4-6114-44ECC81E52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8A598-01B7-451D-B588-CE18F0CBCD51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882448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38D8B27-EC89-FC8F-C891-C0844E9B6F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/>
              <a:t>פרויקט עיצוב התנהגות - לשם שינוי 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A1881C7-04F8-703A-D858-C3D615C184F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/>
              <a:t>אפיון ותכנון דרישות</a:t>
            </a:r>
          </a:p>
        </p:txBody>
      </p:sp>
      <p:pic>
        <p:nvPicPr>
          <p:cNvPr id="4" name="תמונה 3">
            <a:extLst>
              <a:ext uri="{FF2B5EF4-FFF2-40B4-BE49-F238E27FC236}">
                <a16:creationId xmlns:a16="http://schemas.microsoft.com/office/drawing/2014/main" id="{36F78CAE-2A65-5F07-532B-AC206F3DAF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73558"/>
            <a:ext cx="3656804" cy="3899767"/>
          </a:xfrm>
          <a:prstGeom prst="rect">
            <a:avLst/>
          </a:prstGeom>
        </p:spPr>
      </p:pic>
      <p:sp>
        <p:nvSpPr>
          <p:cNvPr id="5" name="מלבן 4">
            <a:extLst>
              <a:ext uri="{FF2B5EF4-FFF2-40B4-BE49-F238E27FC236}">
                <a16:creationId xmlns:a16="http://schemas.microsoft.com/office/drawing/2014/main" id="{56F44C6D-B4CF-646A-CBB2-EDB4843AE695}"/>
              </a:ext>
            </a:extLst>
          </p:cNvPr>
          <p:cNvSpPr/>
          <p:nvPr/>
        </p:nvSpPr>
        <p:spPr>
          <a:xfrm>
            <a:off x="7393646" y="4475623"/>
            <a:ext cx="3946914" cy="196977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adley Hand ITC" panose="03070402050302030203" pitchFamily="66" charset="0"/>
                <a:cs typeface="Guttman Yad-Brush" panose="02010401010101010101" pitchFamily="2" charset="-79"/>
              </a:rPr>
              <a:t>Sara Hartuv</a:t>
            </a:r>
          </a:p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adley Hand ITC" panose="03070402050302030203" pitchFamily="66" charset="0"/>
              </a:rPr>
              <a:t>sarahartuv1@gmail.com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adley Hand ITC" panose="03070402050302030203" pitchFamily="66" charset="0"/>
                <a:cs typeface="Guttman Yad-Brush" panose="02010401010101010101" pitchFamily="2" charset="-79"/>
              </a:rPr>
              <a:t> </a:t>
            </a:r>
          </a:p>
          <a:p>
            <a:pPr algn="ctr"/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adley Hand ITC" panose="03070402050302030203" pitchFamily="66" charset="0"/>
                <a:cs typeface="Guttman Yad-Brush" panose="02010401010101010101" pitchFamily="2" charset="-79"/>
              </a:rPr>
              <a:t>22/01/2026</a:t>
            </a:r>
            <a:endParaRPr lang="he-IL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radley Hand ITC" panose="03070402050302030203" pitchFamily="66" charset="0"/>
              <a:cs typeface="Guttman Yad-Brush" panose="020104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05270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F5885D26-079A-786E-F831-D415315F57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err="1"/>
              <a:t>חזון</a:t>
            </a:r>
            <a:r>
              <a:rPr lang="he-IL" dirty="0"/>
              <a:t> ומטרת המערכת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A16B6B2-EA48-537E-D1CB-78C3360635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he-IL" dirty="0"/>
              <a:t>למה המערכת נבנתה?</a:t>
            </a:r>
          </a:p>
          <a:p>
            <a:pPr marL="457200" lvl="1" indent="0">
              <a:buNone/>
            </a:pPr>
            <a:r>
              <a:rPr lang="he-IL" dirty="0"/>
              <a:t>המערכת נבנתה כדי ליצור </a:t>
            </a:r>
            <a:r>
              <a:rPr lang="he-IL" b="1" dirty="0"/>
              <a:t>מערכת חכמה לניהול, מעקב וחיזוק התנהגות חיובית והצטיינות בקרב תלמידות</a:t>
            </a:r>
            <a:r>
              <a:rPr lang="he-IL" dirty="0"/>
              <a:t>, תוך חיבור בין צוות חינוכי, תלמידות והנהלה — בצורה מדידה, שקופה ומעודדת מוטיבציה.</a:t>
            </a:r>
          </a:p>
          <a:p>
            <a:r>
              <a:rPr lang="he-IL" dirty="0"/>
              <a:t>איזו בעיה חינוכית וניהולית היא פותרת?</a:t>
            </a:r>
          </a:p>
          <a:p>
            <a:pPr lvl="1"/>
            <a:r>
              <a:rPr lang="he-IL" dirty="0"/>
              <a:t>לפני המערכת:</a:t>
            </a:r>
          </a:p>
          <a:p>
            <a:pPr lvl="2"/>
            <a:r>
              <a:rPr lang="he-IL" dirty="0"/>
              <a:t>מעקב אחר נקודות והצטיינות נעשה באופן ידני ולא עקבי</a:t>
            </a:r>
          </a:p>
          <a:p>
            <a:pPr lvl="2"/>
            <a:r>
              <a:rPr lang="he-IL" dirty="0"/>
              <a:t>לא הייתה תמונה ברורה של התקדמות תלמידות לאורך זמן</a:t>
            </a:r>
          </a:p>
          <a:p>
            <a:pPr lvl="2"/>
            <a:r>
              <a:rPr lang="he-IL" dirty="0"/>
              <a:t>תלמידות לא קיבלו משוב </a:t>
            </a:r>
            <a:r>
              <a:rPr lang="he-IL" dirty="0" err="1"/>
              <a:t>מיידי</a:t>
            </a:r>
            <a:r>
              <a:rPr lang="he-IL" dirty="0"/>
              <a:t> וברור על הישגים</a:t>
            </a:r>
          </a:p>
          <a:p>
            <a:pPr lvl="2"/>
            <a:r>
              <a:rPr lang="he-IL" dirty="0"/>
              <a:t>ניהול שוברים, תעודות והטבות היה מורכב ולא ממוחשב</a:t>
            </a:r>
          </a:p>
          <a:p>
            <a:pPr lvl="2"/>
            <a:r>
              <a:rPr lang="he-IL" dirty="0"/>
              <a:t>להנהלה לא הייתה שליטה מלאה על נתונים מצטברים ומגמות</a:t>
            </a:r>
          </a:p>
          <a:p>
            <a:pPr lvl="1"/>
            <a:r>
              <a:rPr lang="he-IL" dirty="0"/>
              <a:t>המערכת פותרת זאת באמצעות:</a:t>
            </a:r>
          </a:p>
          <a:p>
            <a:pPr lvl="2"/>
            <a:r>
              <a:rPr lang="he-IL" dirty="0"/>
              <a:t>אוטומציה של חישוב נקודות, הצטיינות ושוברים</a:t>
            </a:r>
          </a:p>
          <a:p>
            <a:pPr lvl="2"/>
            <a:r>
              <a:rPr lang="he-IL" dirty="0"/>
              <a:t>תיעוד היסטורי מלא של התקדמות אישית וכיתתית</a:t>
            </a:r>
          </a:p>
          <a:p>
            <a:pPr lvl="2"/>
            <a:r>
              <a:rPr lang="he-IL" dirty="0"/>
              <a:t>מערכת משוב ברורה ושקופה לתלמידות</a:t>
            </a:r>
          </a:p>
          <a:p>
            <a:pPr lvl="2"/>
            <a:r>
              <a:rPr lang="he-IL" dirty="0"/>
              <a:t>ניהול דיגיטלי של תעודות, שוברים ורכישות</a:t>
            </a:r>
          </a:p>
          <a:p>
            <a:pPr lvl="2"/>
            <a:r>
              <a:rPr lang="he-IL" dirty="0"/>
              <a:t>ניתוח נתונים מתקדם עבור מורות וצוות ניהולי</a:t>
            </a:r>
          </a:p>
          <a:p>
            <a:pPr lv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8935697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31B075C-FA28-9043-EACD-1423641CC5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err="1"/>
              <a:t>חזון</a:t>
            </a:r>
            <a:r>
              <a:rPr lang="he-IL" dirty="0"/>
              <a:t> ומטרת המערכת - המשך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89C7F9D-44A1-3113-33AD-5831349142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e-IL" dirty="0"/>
              <a:t>הערך המוסף לבית הספר ולתלמידות</a:t>
            </a:r>
          </a:p>
          <a:p>
            <a:pPr lvl="1"/>
            <a:r>
              <a:rPr lang="he-IL" dirty="0"/>
              <a:t>לבית הספר:</a:t>
            </a:r>
          </a:p>
          <a:p>
            <a:pPr lvl="2"/>
            <a:r>
              <a:rPr lang="he-IL" dirty="0"/>
              <a:t>שליטה מלאה על נתונים חינוכיים בזמן אמת</a:t>
            </a:r>
          </a:p>
          <a:p>
            <a:pPr lvl="2"/>
            <a:r>
              <a:rPr lang="he-IL" dirty="0"/>
              <a:t>קבלת החלטות מבוססת נתונים</a:t>
            </a:r>
          </a:p>
          <a:p>
            <a:pPr lvl="2"/>
            <a:r>
              <a:rPr lang="he-IL" dirty="0"/>
              <a:t>חיזוק תרבות של מצוינות, התמדה ואחריות</a:t>
            </a:r>
          </a:p>
          <a:p>
            <a:pPr lvl="2"/>
            <a:r>
              <a:rPr lang="he-IL" dirty="0"/>
              <a:t>חיסכון בזמן ניהולי והפחתת עומס אדמיניסטרטיבי</a:t>
            </a:r>
          </a:p>
          <a:p>
            <a:pPr lvl="1"/>
            <a:r>
              <a:rPr lang="he-IL" dirty="0"/>
              <a:t>לתלמידות:</a:t>
            </a:r>
          </a:p>
          <a:p>
            <a:pPr lvl="2"/>
            <a:r>
              <a:rPr lang="he-IL" dirty="0"/>
              <a:t>חוויית למידה מעצימה ומעודדת מוטיבציה</a:t>
            </a:r>
          </a:p>
          <a:p>
            <a:pPr lvl="2"/>
            <a:r>
              <a:rPr lang="he-IL" dirty="0"/>
              <a:t>שקיפות מלאה לגבי הישגים והתקדמות</a:t>
            </a:r>
          </a:p>
          <a:p>
            <a:pPr lvl="2"/>
            <a:r>
              <a:rPr lang="he-IL" dirty="0"/>
              <a:t>תחושת הישג, הכרה </a:t>
            </a:r>
            <a:r>
              <a:rPr lang="he-IL" dirty="0" err="1"/>
              <a:t>ותמרוץ</a:t>
            </a:r>
            <a:r>
              <a:rPr lang="he-IL" dirty="0"/>
              <a:t> חיובי</a:t>
            </a:r>
          </a:p>
          <a:p>
            <a:pPr lvl="2"/>
            <a:r>
              <a:rPr lang="he-IL" dirty="0"/>
              <a:t>מפת דרך ברורה להצטיינות אישית וחודשית</a:t>
            </a:r>
          </a:p>
        </p:txBody>
      </p:sp>
    </p:spTree>
    <p:extLst>
      <p:ext uri="{BB962C8B-B14F-4D97-AF65-F5344CB8AC3E}">
        <p14:creationId xmlns:p14="http://schemas.microsoft.com/office/powerpoint/2010/main" val="30039234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A6AC487-3DA4-F3DF-BAD4-5D23AE518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קהל יעד וסוגי משתמשים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2107DB8-07A9-8BDB-565F-112580970C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מורות</a:t>
            </a:r>
          </a:p>
          <a:p>
            <a:r>
              <a:rPr lang="he-IL" dirty="0"/>
              <a:t>תלמידות</a:t>
            </a:r>
          </a:p>
          <a:p>
            <a:r>
              <a:rPr lang="he-IL" dirty="0"/>
              <a:t>צוות ניהולי וטיפולי</a:t>
            </a:r>
          </a:p>
          <a:p>
            <a:r>
              <a:rPr lang="he-IL" dirty="0"/>
              <a:t>מנהלת אתר</a:t>
            </a:r>
          </a:p>
        </p:txBody>
      </p:sp>
    </p:spTree>
    <p:extLst>
      <p:ext uri="{BB962C8B-B14F-4D97-AF65-F5344CB8AC3E}">
        <p14:creationId xmlns:p14="http://schemas.microsoft.com/office/powerpoint/2010/main" val="18318525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814CDED-1672-FCBB-8647-7D179F3CB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עקרונות מערכתיים מרכזיים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3BF3EA9-AC18-F52B-AADA-4EC0A124FE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צבירת נקודות</a:t>
            </a:r>
          </a:p>
          <a:p>
            <a:r>
              <a:rPr lang="he-IL" dirty="0"/>
              <a:t>הצטיינות שבועית</a:t>
            </a:r>
          </a:p>
          <a:p>
            <a:r>
              <a:rPr lang="he-IL" dirty="0"/>
              <a:t>שוברים ותעודות </a:t>
            </a:r>
            <a:r>
              <a:rPr lang="he-IL" dirty="0" err="1"/>
              <a:t>שבועויות</a:t>
            </a:r>
            <a:endParaRPr lang="he-IL" dirty="0"/>
          </a:p>
          <a:p>
            <a:r>
              <a:rPr lang="he-IL" dirty="0"/>
              <a:t>מעקב היסטוריה וגרפים</a:t>
            </a:r>
          </a:p>
          <a:p>
            <a:r>
              <a:rPr lang="he-IL" dirty="0"/>
              <a:t>קיוסק ומימוש שוברים</a:t>
            </a:r>
          </a:p>
        </p:txBody>
      </p:sp>
    </p:spTree>
    <p:extLst>
      <p:ext uri="{BB962C8B-B14F-4D97-AF65-F5344CB8AC3E}">
        <p14:creationId xmlns:p14="http://schemas.microsoft.com/office/powerpoint/2010/main" val="26923388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CE83553-1686-399A-AAB4-CB0C3BD81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מבנה כללי של המערכת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49649860-CFCA-527F-0800-9F7095A6AE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התחברות</a:t>
            </a:r>
          </a:p>
          <a:p>
            <a:r>
              <a:rPr lang="he-IL" dirty="0"/>
              <a:t>ניתוב לפי תפקיד</a:t>
            </a:r>
          </a:p>
          <a:p>
            <a:r>
              <a:rPr lang="he-IL" dirty="0"/>
              <a:t>אזורי מערכת: מורות / תלמידות / צוות ניהולי + טיפולי / ניהול</a:t>
            </a:r>
          </a:p>
        </p:txBody>
      </p:sp>
    </p:spTree>
    <p:extLst>
      <p:ext uri="{BB962C8B-B14F-4D97-AF65-F5344CB8AC3E}">
        <p14:creationId xmlns:p14="http://schemas.microsoft.com/office/powerpoint/2010/main" val="30235519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2F8CC42-868E-897E-6BC8-4D210ADAC4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מסכי מערכת 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BF4F25E-546D-919F-EBE1-EC275F57C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צד מורות </a:t>
            </a:r>
          </a:p>
          <a:p>
            <a:pPr lvl="1"/>
            <a:r>
              <a:rPr lang="he-IL" dirty="0"/>
              <a:t>הזנת נקודות + צפיה בנתונים קודמים (ניהול יומן מפורט)</a:t>
            </a:r>
          </a:p>
          <a:p>
            <a:pPr lvl="1"/>
            <a:r>
              <a:rPr lang="he-IL" dirty="0"/>
              <a:t>גרפים</a:t>
            </a:r>
          </a:p>
          <a:p>
            <a:pPr lvl="1"/>
            <a:r>
              <a:rPr lang="he-IL" dirty="0"/>
              <a:t>הודעות לתמידות</a:t>
            </a:r>
          </a:p>
        </p:txBody>
      </p:sp>
    </p:spTree>
    <p:extLst>
      <p:ext uri="{BB962C8B-B14F-4D97-AF65-F5344CB8AC3E}">
        <p14:creationId xmlns:p14="http://schemas.microsoft.com/office/powerpoint/2010/main" val="3246983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1F43BDC-28F0-4D90-2A69-899EA20E1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מסכי מערכת 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0F475EA-41AB-2432-5F3F-5F56C8CF2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צד תלמידות</a:t>
            </a:r>
          </a:p>
          <a:p>
            <a:pPr lvl="1"/>
            <a:r>
              <a:rPr lang="he-IL" dirty="0"/>
              <a:t>פרופיל אישי – סיכום שבועי של נקודות, שוברים, תעודות הצטיינות, הודעות מצוות, מפת הדרך להצטיינות חודשית</a:t>
            </a:r>
          </a:p>
          <a:p>
            <a:pPr lvl="1"/>
            <a:r>
              <a:rPr lang="he-IL" dirty="0"/>
              <a:t>גרפים</a:t>
            </a:r>
          </a:p>
          <a:p>
            <a:pPr lvl="1"/>
            <a:r>
              <a:rPr lang="he-IL" dirty="0"/>
              <a:t>הודעות לצוות ניהול האתר</a:t>
            </a:r>
          </a:p>
        </p:txBody>
      </p:sp>
    </p:spTree>
    <p:extLst>
      <p:ext uri="{BB962C8B-B14F-4D97-AF65-F5344CB8AC3E}">
        <p14:creationId xmlns:p14="http://schemas.microsoft.com/office/powerpoint/2010/main" val="2844655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99173E5-D2C3-3309-91E8-C1E4606650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הקיוסק הדיגיטלי ומימוש שוברים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530E923-7361-0489-6248-E2A40B841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צפייה במוצרים </a:t>
            </a:r>
          </a:p>
          <a:p>
            <a:r>
              <a:rPr lang="he-IL" dirty="0"/>
              <a:t>סינון לפי קטגוריות או חיפוש</a:t>
            </a:r>
          </a:p>
          <a:p>
            <a:r>
              <a:rPr lang="he-IL" dirty="0"/>
              <a:t>סל קניות</a:t>
            </a:r>
          </a:p>
          <a:p>
            <a:r>
              <a:rPr lang="he-IL" dirty="0"/>
              <a:t>תהליך רכישה</a:t>
            </a:r>
          </a:p>
          <a:p>
            <a:r>
              <a:rPr lang="he-IL" dirty="0"/>
              <a:t>אישור והתראות </a:t>
            </a:r>
          </a:p>
          <a:p>
            <a:r>
              <a:rPr lang="he-IL" dirty="0"/>
              <a:t>הזמנות ומיילים - למנהלת האתר על ביצוע ההזמנה </a:t>
            </a:r>
          </a:p>
        </p:txBody>
      </p:sp>
    </p:spTree>
    <p:extLst>
      <p:ext uri="{BB962C8B-B14F-4D97-AF65-F5344CB8AC3E}">
        <p14:creationId xmlns:p14="http://schemas.microsoft.com/office/powerpoint/2010/main" val="1213945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75D3B03-CC4D-1D5B-BC4E-D3B2C8BFE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מנגנון הצטיינות שבועית 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B4B69D8D-B765-7946-566F-262CB28E9E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קריטריונים – כל מורה קובעת לכיתתה (או לתלמידה) סף הצטיינות בנקודות הסף לא נקבע במערכת בשל הרגישות והשינויים התדירים בסף הכיתה והשינויים בסף עבור כל תלמידה בנפרד</a:t>
            </a:r>
          </a:p>
          <a:p>
            <a:r>
              <a:rPr lang="he-IL" dirty="0"/>
              <a:t>מגבלות זמן – יש לעדכן הצטיינות מיום שישי בשעה 08:00 ועד יום ראשון בשעה 10:00</a:t>
            </a:r>
          </a:p>
          <a:p>
            <a:r>
              <a:rPr lang="he-IL" dirty="0"/>
              <a:t>חישוב אוטומטי – של הצטיינות חודשית (5 תעודות מתוך 6 או 4 מתוך 5 תלוי כמה שבועות יש בתקופת ההצטיינות שהגדירו)</a:t>
            </a:r>
          </a:p>
          <a:p>
            <a:r>
              <a:rPr lang="he-IL" dirty="0"/>
              <a:t>תעודות ושוברים – השוברים למימוש בקיוסק התעודות למפת הדרך להצטיינות החודשית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216514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49A88EC-E807-A7A8-C046-F209FDAAE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גרפים ומעקב התקדמות 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16EB8E6-8D4F-36CE-A91A-A698A140C0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גרפים לתלמידה </a:t>
            </a:r>
          </a:p>
          <a:p>
            <a:r>
              <a:rPr lang="he-IL" dirty="0"/>
              <a:t>גרפים למורה – כולל אפשרות צפיה בגרפי התלמידות שלה</a:t>
            </a:r>
          </a:p>
          <a:p>
            <a:r>
              <a:rPr lang="he-IL" dirty="0"/>
              <a:t>גרפים לצוות ניהולי וטיפולי – כולל אפשרות </a:t>
            </a:r>
            <a:r>
              <a:rPr lang="he-IL" dirty="0" err="1"/>
              <a:t>לצפיה</a:t>
            </a:r>
            <a:r>
              <a:rPr lang="he-IL" dirty="0"/>
              <a:t> בכל גרפי מורה ותלמידה + אפשרות צפיה בגרפי התיכון כולו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330366231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5628BE9-112D-DA4D-F04A-6AFB624D39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מערכת הודעות והערות 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B97840C-A92E-11E2-3CF5-A4729FAB99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הודעות מורה (לתלמידה)</a:t>
            </a:r>
          </a:p>
          <a:p>
            <a:r>
              <a:rPr lang="he-IL" dirty="0"/>
              <a:t>הודעות צוות (טיפולי וניהולי), (לתלמידה)</a:t>
            </a:r>
          </a:p>
          <a:p>
            <a:r>
              <a:rPr lang="he-IL" dirty="0"/>
              <a:t>הודעות תלמידות (לצוות ניהול המערכת)</a:t>
            </a:r>
          </a:p>
          <a:p>
            <a:r>
              <a:rPr lang="he-IL" dirty="0"/>
              <a:t>היסטורית תקשורת </a:t>
            </a:r>
          </a:p>
        </p:txBody>
      </p:sp>
    </p:spTree>
    <p:extLst>
      <p:ext uri="{BB962C8B-B14F-4D97-AF65-F5344CB8AC3E}">
        <p14:creationId xmlns:p14="http://schemas.microsoft.com/office/powerpoint/2010/main" val="11569423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7FF597F-DEE2-83A1-2E2E-BD3BB25004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מסד נתונים </a:t>
            </a:r>
            <a:r>
              <a:rPr lang="en-US" dirty="0"/>
              <a:t>DB</a:t>
            </a:r>
            <a:r>
              <a:rPr lang="he-IL" dirty="0"/>
              <a:t> – מבנה ועקרונות 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81D98507-6CC7-BA9F-7A37-415BA1D39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MongoDB</a:t>
            </a:r>
          </a:p>
          <a:p>
            <a:r>
              <a:rPr lang="en-US" dirty="0"/>
              <a:t>Collections</a:t>
            </a:r>
          </a:p>
          <a:p>
            <a:r>
              <a:rPr lang="he-IL" dirty="0"/>
              <a:t>קשרים בין ישויות </a:t>
            </a:r>
          </a:p>
          <a:p>
            <a:r>
              <a:rPr lang="he-IL" dirty="0"/>
              <a:t>תמיכה בהתרחבות עתידית</a:t>
            </a:r>
          </a:p>
        </p:txBody>
      </p:sp>
    </p:spTree>
    <p:extLst>
      <p:ext uri="{BB962C8B-B14F-4D97-AF65-F5344CB8AC3E}">
        <p14:creationId xmlns:p14="http://schemas.microsoft.com/office/powerpoint/2010/main" val="208521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A89C01E-D45A-57E9-EEAD-12C666B74D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הרשאות ותפקידי משתמשים 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04015C3-99C0-5A4B-8F9E-682240798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Role-based access</a:t>
            </a:r>
          </a:p>
          <a:p>
            <a:r>
              <a:rPr lang="he-IL" dirty="0"/>
              <a:t>הבדלי הרשאות </a:t>
            </a:r>
          </a:p>
          <a:p>
            <a:r>
              <a:rPr lang="he-IL" dirty="0"/>
              <a:t>גישה מבוקרת לנתונים </a:t>
            </a:r>
          </a:p>
        </p:txBody>
      </p:sp>
    </p:spTree>
    <p:extLst>
      <p:ext uri="{BB962C8B-B14F-4D97-AF65-F5344CB8AC3E}">
        <p14:creationId xmlns:p14="http://schemas.microsoft.com/office/powerpoint/2010/main" val="36474407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4C4A1A2-3F08-67CE-A65D-A70CC658A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חוקים עסקיים ולוגיקה מערכתית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4A3FB3A-5C3C-EE45-107B-7630041B9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בכל שבוע מחדש התלמידה צופה בנתוני השבוע הנוכחי בלבד</a:t>
            </a:r>
          </a:p>
          <a:p>
            <a:r>
              <a:rPr lang="he-IL" dirty="0"/>
              <a:t>חישובי נקודות</a:t>
            </a:r>
          </a:p>
          <a:p>
            <a:r>
              <a:rPr lang="he-IL" dirty="0"/>
              <a:t>חישובי שוברים </a:t>
            </a:r>
          </a:p>
          <a:p>
            <a:r>
              <a:rPr lang="he-IL" dirty="0"/>
              <a:t>כללי הצטיינות</a:t>
            </a:r>
          </a:p>
          <a:p>
            <a:r>
              <a:rPr lang="he-IL" dirty="0"/>
              <a:t>זמני פתיחה וסגירה של המערכת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41600078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AB79879-BD55-C1F2-C70D-AB922608A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ארכיטקטורה טכנולוגית 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9120DB9-8621-A432-32F1-7DB47ED1D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Frontend</a:t>
            </a:r>
          </a:p>
          <a:p>
            <a:r>
              <a:rPr lang="en-US" dirty="0"/>
              <a:t>Backend</a:t>
            </a:r>
          </a:p>
          <a:p>
            <a:r>
              <a:rPr lang="en-US" dirty="0"/>
              <a:t>DB</a:t>
            </a:r>
            <a:r>
              <a:rPr lang="he-IL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483770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E505A82-451F-AB52-6A4C-6B92DA741B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תהליכים מרכזיים (</a:t>
            </a:r>
            <a:r>
              <a:rPr lang="en-US" dirty="0"/>
              <a:t>User Flows</a:t>
            </a:r>
            <a:r>
              <a:rPr lang="he-IL" dirty="0"/>
              <a:t>)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819DD82-ED63-069A-36E9-0E019E019A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הזנת נקודות יומית על כל שיעור ע"י מורה </a:t>
            </a:r>
          </a:p>
          <a:p>
            <a:r>
              <a:rPr lang="he-IL" dirty="0"/>
              <a:t>צבירת שוברים ותעודות לתלמידה ע"י עדכון המורה </a:t>
            </a:r>
          </a:p>
          <a:p>
            <a:r>
              <a:rPr lang="he-IL" dirty="0"/>
              <a:t>רכישה בקיוסק ע"י התלמידות</a:t>
            </a:r>
          </a:p>
          <a:p>
            <a:r>
              <a:rPr lang="he-IL" dirty="0"/>
              <a:t>שליחת הודעות לתלמידות ע"י מורה </a:t>
            </a:r>
          </a:p>
          <a:p>
            <a:r>
              <a:rPr lang="he-IL" dirty="0"/>
              <a:t>הצעת רעיונות ע"י התלמידות </a:t>
            </a:r>
          </a:p>
          <a:p>
            <a:r>
              <a:rPr lang="he-IL" dirty="0"/>
              <a:t>היסטוריה למורות </a:t>
            </a:r>
          </a:p>
          <a:p>
            <a:r>
              <a:rPr lang="he-IL" dirty="0"/>
              <a:t>ניתוח גרפים למורות לתלמידות ולצוות הניהולי והטיפולי</a:t>
            </a:r>
          </a:p>
        </p:txBody>
      </p:sp>
    </p:spTree>
    <p:extLst>
      <p:ext uri="{BB962C8B-B14F-4D97-AF65-F5344CB8AC3E}">
        <p14:creationId xmlns:p14="http://schemas.microsoft.com/office/powerpoint/2010/main" val="17952620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200C2F8-03CC-27BC-3D1F-1338320DE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שלבי פיתוח 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0B7135A-4610-772C-ADD2-011112B42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שלב 1 – גרעין בסיסי</a:t>
            </a:r>
          </a:p>
          <a:p>
            <a:pPr lvl="1"/>
            <a:r>
              <a:rPr lang="he-IL" dirty="0"/>
              <a:t>הזנת נקודות ע"י מורה רק סיכום שבועי (פעם בשבוע)</a:t>
            </a:r>
          </a:p>
          <a:p>
            <a:pPr lvl="1"/>
            <a:r>
              <a:rPr lang="he-IL" dirty="0"/>
              <a:t>תלמידה צופה במצבה השבועי </a:t>
            </a:r>
          </a:p>
          <a:p>
            <a:pPr lvl="1"/>
            <a:r>
              <a:rPr lang="he-IL" dirty="0"/>
              <a:t>רכישת הזמנה בקיוסק </a:t>
            </a:r>
          </a:p>
        </p:txBody>
      </p:sp>
    </p:spTree>
    <p:extLst>
      <p:ext uri="{BB962C8B-B14F-4D97-AF65-F5344CB8AC3E}">
        <p14:creationId xmlns:p14="http://schemas.microsoft.com/office/powerpoint/2010/main" val="36239638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A090ED1-DAF7-BEB7-FD34-8E11EBF4B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שלבי פיתוח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F66488C-0180-B348-A6A3-48BCBB52AA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שלב 2 – שיפור חווית משתמש </a:t>
            </a:r>
          </a:p>
          <a:p>
            <a:pPr lvl="1"/>
            <a:r>
              <a:rPr lang="he-IL" dirty="0"/>
              <a:t>הוספת הודעות מצוות עבור התלמידות</a:t>
            </a:r>
          </a:p>
          <a:p>
            <a:pPr lvl="1"/>
            <a:r>
              <a:rPr lang="he-IL" dirty="0"/>
              <a:t>הוספת הצעת רעיונות של התלמידות להבאת דברים לקיוסק</a:t>
            </a:r>
          </a:p>
          <a:p>
            <a:pPr lvl="1"/>
            <a:r>
              <a:rPr lang="he-IL" dirty="0"/>
              <a:t>ניתוח של גרפים חודשיים על בסיס הנתונים השבועיים</a:t>
            </a:r>
          </a:p>
          <a:p>
            <a:pPr lvl="1"/>
            <a:endParaRPr lang="he-IL" dirty="0"/>
          </a:p>
          <a:p>
            <a:pPr lvl="1"/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14724586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7E85D51-71D9-98A9-2F8D-76B4B093D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שלבי פיתוח 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3E46807F-FBDF-B8AC-7735-A08645771E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שלב 3 – מערכת מתקדמת (היום)</a:t>
            </a:r>
          </a:p>
          <a:p>
            <a:pPr lvl="1"/>
            <a:r>
              <a:rPr lang="he-IL" dirty="0"/>
              <a:t>הזנת נקודות בכל שיעור </a:t>
            </a:r>
          </a:p>
          <a:p>
            <a:pPr lvl="1"/>
            <a:r>
              <a:rPr lang="he-IL" dirty="0"/>
              <a:t>חישוב נקודות אוטומטי בסוף כל שבוע</a:t>
            </a:r>
          </a:p>
          <a:p>
            <a:pPr lvl="1"/>
            <a:r>
              <a:rPr lang="he-IL" dirty="0"/>
              <a:t>קביעה ע"י מורה על הצטיינות שבועית וקבלת שוברים</a:t>
            </a:r>
          </a:p>
          <a:p>
            <a:pPr lvl="1"/>
            <a:r>
              <a:rPr lang="he-IL" dirty="0"/>
              <a:t>גרפי ניתוח מתקדמים על סמך הנתונים היומיים עבור המורות התלמידות הצוות הטיפולי והניהולי </a:t>
            </a:r>
          </a:p>
          <a:p>
            <a:pPr lvl="1"/>
            <a:r>
              <a:rPr lang="he-IL" dirty="0"/>
              <a:t>אפשרות לזיהוי מגמות קושי בשיעורים מסוימים על פי זמן השיעור או סוגו – הוספת מערכת שעות לכל כיתה – אופציונלי כרגע בשלב בדיקה</a:t>
            </a:r>
          </a:p>
        </p:txBody>
      </p:sp>
    </p:spTree>
    <p:extLst>
      <p:ext uri="{BB962C8B-B14F-4D97-AF65-F5344CB8AC3E}">
        <p14:creationId xmlns:p14="http://schemas.microsoft.com/office/powerpoint/2010/main" val="33340601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37ED96D-54A9-1FF5-1767-FECD111F9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יכולות עתידיות והתרחבות 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9AC88A1B-3C6C-4BCE-1FB9-16444C8762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/>
              <a:t>המערכת יכולה להתרחב עוד רבות </a:t>
            </a:r>
          </a:p>
          <a:p>
            <a:pPr lvl="1"/>
            <a:r>
              <a:rPr lang="he-IL" dirty="0" err="1"/>
              <a:t>אוטומציות</a:t>
            </a:r>
            <a:r>
              <a:rPr lang="he-IL" dirty="0"/>
              <a:t> </a:t>
            </a:r>
          </a:p>
          <a:p>
            <a:pPr lvl="1"/>
            <a:r>
              <a:rPr lang="he-IL" dirty="0"/>
              <a:t>פיתוחים חינוכיים נוספים</a:t>
            </a:r>
          </a:p>
          <a:p>
            <a:pPr lvl="1"/>
            <a:r>
              <a:rPr lang="he-IL" dirty="0"/>
              <a:t>הוספת תהליכי </a:t>
            </a:r>
            <a:r>
              <a:rPr lang="en-US" dirty="0"/>
              <a:t>AI</a:t>
            </a:r>
            <a:r>
              <a:rPr lang="he-IL" dirty="0"/>
              <a:t> (מה שהוגש למיזם)</a:t>
            </a:r>
          </a:p>
          <a:p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24124317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5C8EEE7-3484-5EB4-B53C-97589E0F54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סיכום – ערך חינוכי וטכנולוגי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0BBE8008-94DD-7B70-62AE-F6F7247DB5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he-IL" dirty="0"/>
              <a:t>תרומה לבית הספר</a:t>
            </a:r>
          </a:p>
          <a:p>
            <a:pPr lvl="1"/>
            <a:r>
              <a:rPr lang="he-IL" dirty="0"/>
              <a:t>המערכת מעניקה לבית הספר </a:t>
            </a:r>
            <a:r>
              <a:rPr lang="he-IL" b="1" dirty="0"/>
              <a:t>כלי ניהולי וחינוכי מתקדם</a:t>
            </a:r>
            <a:r>
              <a:rPr lang="he-IL" dirty="0"/>
              <a:t> לניהול נתוני התנהגות, הצטיינות ומעורבות תלמידות.</a:t>
            </a:r>
            <a:br>
              <a:rPr lang="he-IL" dirty="0"/>
            </a:br>
            <a:r>
              <a:rPr lang="he-IL" dirty="0"/>
              <a:t>היא מאפשרת </a:t>
            </a:r>
            <a:r>
              <a:rPr lang="he-IL" b="1" dirty="0"/>
              <a:t>בקרה, שקיפות וקבלת החלטות מבוססת נתונים</a:t>
            </a:r>
            <a:r>
              <a:rPr lang="he-IL" dirty="0"/>
              <a:t>, מפחיתה עומס אדמיניסטרטיבי ומחזקת תרבות של מצוינות, אחריות והתמדה.</a:t>
            </a:r>
          </a:p>
          <a:p>
            <a:r>
              <a:rPr lang="he-IL" dirty="0"/>
              <a:t>תרומה לתלמידות</a:t>
            </a:r>
          </a:p>
          <a:p>
            <a:pPr lvl="1"/>
            <a:r>
              <a:rPr lang="he-IL" dirty="0"/>
              <a:t>המערכת יוצרת </a:t>
            </a:r>
            <a:r>
              <a:rPr lang="he-IL" b="1" dirty="0"/>
              <a:t>חוויית למידה מעצימה ומעודדת</a:t>
            </a:r>
            <a:r>
              <a:rPr lang="he-IL" dirty="0"/>
              <a:t>, המבוססת על משוב חיובי, הכרה בהישגים ומוטיבציה פנימית.</a:t>
            </a:r>
            <a:br>
              <a:rPr lang="he-IL" dirty="0"/>
            </a:br>
            <a:r>
              <a:rPr lang="he-IL" dirty="0"/>
              <a:t>התלמידות מקבלות </a:t>
            </a:r>
            <a:r>
              <a:rPr lang="he-IL" b="1" dirty="0"/>
              <a:t>תמונה ברורה של ההתקדמות האישית שלהן</a:t>
            </a:r>
            <a:r>
              <a:rPr lang="he-IL" dirty="0"/>
              <a:t>, תחושת מסוגלות, מפת דרך להצלחה וחיבור ישיר בין מאמץ - להישג.</a:t>
            </a:r>
          </a:p>
          <a:p>
            <a:r>
              <a:rPr lang="he-IL" dirty="0"/>
              <a:t>פוטנציאל עתידי</a:t>
            </a:r>
          </a:p>
          <a:p>
            <a:pPr lvl="1"/>
            <a:r>
              <a:rPr lang="he-IL" dirty="0"/>
              <a:t>המערכת נבנתה עם </a:t>
            </a:r>
            <a:r>
              <a:rPr lang="he-IL" b="1" dirty="0"/>
              <a:t>תשתית גמישה להתרחבות עתידית</a:t>
            </a:r>
            <a:r>
              <a:rPr lang="he-IL" dirty="0"/>
              <a:t>, ויכולה לשמש בסיס לפיתוחים נוספים, כגון:</a:t>
            </a:r>
          </a:p>
          <a:p>
            <a:pPr lvl="1"/>
            <a:r>
              <a:rPr lang="he-IL" dirty="0"/>
              <a:t>הרחבת אזור הניהול והדוחות המתקדמים</a:t>
            </a:r>
          </a:p>
          <a:p>
            <a:pPr lvl="1"/>
            <a:r>
              <a:rPr lang="he-IL" dirty="0"/>
              <a:t>ניתוח חינוכי חכם לזיהוי דפוסי הצלחה ואתגר</a:t>
            </a:r>
          </a:p>
          <a:p>
            <a:pPr lvl="1"/>
            <a:r>
              <a:rPr lang="he-IL" dirty="0" err="1"/>
              <a:t>אוטומציות</a:t>
            </a:r>
            <a:r>
              <a:rPr lang="he-IL" dirty="0"/>
              <a:t> לתהליכים חינוכיים וניהוליים</a:t>
            </a:r>
          </a:p>
          <a:p>
            <a:pPr lvl="1"/>
            <a:r>
              <a:rPr lang="he-IL" dirty="0"/>
              <a:t>התאמה למוסדות חינוך נוספים </a:t>
            </a:r>
            <a:r>
              <a:rPr lang="he-IL" dirty="0" err="1"/>
              <a:t>וסקייל</a:t>
            </a:r>
            <a:r>
              <a:rPr lang="he-IL" dirty="0"/>
              <a:t> עתידי</a:t>
            </a:r>
          </a:p>
          <a:p>
            <a:r>
              <a:rPr lang="he-IL" dirty="0"/>
              <a:t>לא רק מערכת טכנולוגית - אלא מנוע לצמיחה חינוכית.</a:t>
            </a:r>
          </a:p>
        </p:txBody>
      </p:sp>
    </p:spTree>
    <p:extLst>
      <p:ext uri="{BB962C8B-B14F-4D97-AF65-F5344CB8AC3E}">
        <p14:creationId xmlns:p14="http://schemas.microsoft.com/office/powerpoint/2010/main" val="293824668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תמונה 3">
            <a:extLst>
              <a:ext uri="{FF2B5EF4-FFF2-40B4-BE49-F238E27FC236}">
                <a16:creationId xmlns:a16="http://schemas.microsoft.com/office/drawing/2014/main" id="{4F9EF8B7-6A9F-B447-B80C-15D9F1A2BB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873558"/>
            <a:ext cx="3656804" cy="3899767"/>
          </a:xfrm>
          <a:prstGeom prst="rect">
            <a:avLst/>
          </a:prstGeom>
        </p:spPr>
      </p:pic>
      <p:sp>
        <p:nvSpPr>
          <p:cNvPr id="7" name="כותרת 1">
            <a:extLst>
              <a:ext uri="{FF2B5EF4-FFF2-40B4-BE49-F238E27FC236}">
                <a16:creationId xmlns:a16="http://schemas.microsoft.com/office/drawing/2014/main" id="{2DE4E65B-E66F-980F-68B8-B3EF13164A74}"/>
              </a:ext>
            </a:extLst>
          </p:cNvPr>
          <p:cNvSpPr txBox="1">
            <a:spLocks/>
          </p:cNvSpPr>
          <p:nvPr/>
        </p:nvSpPr>
        <p:spPr>
          <a:xfrm>
            <a:off x="838200" y="242959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7200" b="1"/>
              <a:t>Thank you! </a:t>
            </a:r>
            <a:endParaRPr lang="he-IL" sz="7200" b="1" dirty="0"/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A56E48FE-7820-D19B-A634-DCCBAB70C97D}"/>
              </a:ext>
            </a:extLst>
          </p:cNvPr>
          <p:cNvSpPr/>
          <p:nvPr/>
        </p:nvSpPr>
        <p:spPr>
          <a:xfrm>
            <a:off x="7393646" y="4475623"/>
            <a:ext cx="3946914" cy="196977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adley Hand ITC" panose="03070402050302030203" pitchFamily="66" charset="0"/>
                <a:cs typeface="Guttman Yad-Brush" panose="02010401010101010101" pitchFamily="2" charset="-79"/>
              </a:rPr>
              <a:t>Sara Hartuv</a:t>
            </a:r>
          </a:p>
          <a:p>
            <a:pPr algn="ctr"/>
            <a:r>
              <a:rPr lang="en-US" sz="24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adley Hand ITC" panose="03070402050302030203" pitchFamily="66" charset="0"/>
              </a:rPr>
              <a:t>sarahartuv1@gmail.com</a:t>
            </a:r>
            <a:r>
              <a:rPr lang="en-US" sz="2400" b="1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adley Hand ITC" panose="03070402050302030203" pitchFamily="66" charset="0"/>
                <a:cs typeface="Guttman Yad-Brush" panose="02010401010101010101" pitchFamily="2" charset="-79"/>
              </a:rPr>
              <a:t> </a:t>
            </a:r>
          </a:p>
          <a:p>
            <a:pPr algn="ctr"/>
            <a:r>
              <a:rPr lang="en-US" sz="40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Bradley Hand ITC" panose="03070402050302030203" pitchFamily="66" charset="0"/>
                <a:cs typeface="Guttman Yad-Brush" panose="02010401010101010101" pitchFamily="2" charset="-79"/>
              </a:rPr>
              <a:t>22/01/2026</a:t>
            </a:r>
            <a:endParaRPr lang="he-IL" sz="4000" dirty="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Bradley Hand ITC" panose="03070402050302030203" pitchFamily="66" charset="0"/>
              <a:cs typeface="Guttman Yad-Brush" panose="02010401010101010101" pitchFamily="2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04733904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11715</TotalTime>
  <Words>861</Words>
  <Application>Microsoft Office PowerPoint</Application>
  <PresentationFormat>מסך רחב</PresentationFormat>
  <Paragraphs>146</Paragraphs>
  <Slides>23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23</vt:i4>
      </vt:variant>
    </vt:vector>
  </HeadingPairs>
  <TitlesOfParts>
    <vt:vector size="28" baseType="lpstr">
      <vt:lpstr>Arial</vt:lpstr>
      <vt:lpstr>Bradley Hand ITC</vt:lpstr>
      <vt:lpstr>Calibri</vt:lpstr>
      <vt:lpstr>Calibri Light</vt:lpstr>
      <vt:lpstr>ערכת נושא Office</vt:lpstr>
      <vt:lpstr>פרויקט עיצוב התנהגות - לשם שינוי </vt:lpstr>
      <vt:lpstr>חזון ומטרת המערכת</vt:lpstr>
      <vt:lpstr>חזון ומטרת המערכת - המשך</vt:lpstr>
      <vt:lpstr>קהל יעד וסוגי משתמשים</vt:lpstr>
      <vt:lpstr>עקרונות מערכתיים מרכזיים</vt:lpstr>
      <vt:lpstr>מבנה כללי של המערכת</vt:lpstr>
      <vt:lpstr>מסכי מערכת </vt:lpstr>
      <vt:lpstr>מסכי מערכת </vt:lpstr>
      <vt:lpstr>הקיוסק הדיגיטלי ומימוש שוברים</vt:lpstr>
      <vt:lpstr>מנגנון הצטיינות שבועית </vt:lpstr>
      <vt:lpstr>גרפים ומעקב התקדמות </vt:lpstr>
      <vt:lpstr>מערכת הודעות והערות </vt:lpstr>
      <vt:lpstr>מסד נתונים DB – מבנה ועקרונות </vt:lpstr>
      <vt:lpstr>הרשאות ותפקידי משתמשים </vt:lpstr>
      <vt:lpstr>חוקים עסקיים ולוגיקה מערכתית</vt:lpstr>
      <vt:lpstr>ארכיטקטורה טכנולוגית </vt:lpstr>
      <vt:lpstr>תהליכים מרכזיים (User Flows)</vt:lpstr>
      <vt:lpstr>שלבי פיתוח </vt:lpstr>
      <vt:lpstr>שלבי פיתוח</vt:lpstr>
      <vt:lpstr>שלבי פיתוח </vt:lpstr>
      <vt:lpstr>יכולות עתידיות והתרחבות </vt:lpstr>
      <vt:lpstr>סיכום – ערך חינוכי וטכנולוגי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USER</cp:lastModifiedBy>
  <cp:revision>6</cp:revision>
  <dcterms:created xsi:type="dcterms:W3CDTF">2025-12-10T22:02:29Z</dcterms:created>
  <dcterms:modified xsi:type="dcterms:W3CDTF">2026-02-03T20:21:11Z</dcterms:modified>
</cp:coreProperties>
</file>