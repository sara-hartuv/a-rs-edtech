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3A1AE5-27B8-23C7-13FA-013D22A4F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F4AA167-59ED-9638-C269-BF2A3BFB9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1A4A45-4441-CC69-A3B3-A0430B71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463CF30-2BCA-60E4-30C0-E4FA3948B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0A6A65F-D3C6-3C0A-D3FB-6B3576D5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981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E73EF7C-43C9-2085-0E1C-194A1611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F9FF73-5CD6-78C8-655A-5E3EB2CE7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ADF37E5-9778-79FE-26C6-D806AFB3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EE2C09F-1298-C725-94CC-C63BF562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ADFB72-BE6D-EF19-C896-05CE8F7C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592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656ABE-E9C9-9A9D-3648-4365C317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7CBA0BE-38A3-95F7-8D4E-53407AE29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D30758-472D-3CA9-19C8-35E12D2D6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E8F895E-9DA3-E924-C883-44527C13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0ADD188-AE99-F41B-116D-96FBB951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339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B8EDFF9-F397-B166-9D2D-89C6DDFA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1B16DEE-22E7-96E0-82CA-1E3138361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C2178A9-F506-22D1-F3DB-F27C5F57E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AFA4D3C-E84E-FAF0-70CF-BB6682F6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C5DF827-BBA4-23D9-CAAB-92F96794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7DE0B81-FCD6-D476-12DE-01A080C4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909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D6B891-214A-F65A-BCD0-95412543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8A1D391-A05C-46D3-CB1C-E29BF8BE3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F884CDE-ED41-19AB-3CD3-72D73FDE8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4BC968CB-5A97-0CB6-C526-FF6774FE7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C248F9B-B601-D763-9887-00FD0FBDD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F95AF90-D988-02CE-CC96-E4E07A14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C0750A9-540B-AC21-F513-C50966B9C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2A7FECF-E9B5-9030-50A4-32D46FB1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3273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A9232BE-BE35-ECB3-EFA3-D6D1597A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5EF101B-268E-1211-293F-84A7C650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F5FA743-97D0-5176-91ED-67583AF1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69B7EA9-1C1E-CFAB-99B7-0FC8E8BE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580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57D5B3A-AECD-657F-7EA7-4716D474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179E591-5947-0B48-9029-A4046872F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A3140C4-8809-50A5-C8EA-4236D70F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428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DE9737-E61B-87A0-F8D3-6D62439A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126B001-9CA9-9B4F-58D9-CE94E53C4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C704701-D7BD-EE41-DBEE-07A4D2D85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C498131-E71F-920B-2FF2-1605C4664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423EE43-A6B4-EC1A-234B-A70CC47D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39BC1AE-6D80-9FCA-46E3-A9D38520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578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36A203-940C-A0F0-DE3C-992C505C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283A50C-6B2A-4151-E39F-64F7427C6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4E6479D-3F85-1381-5151-A2B962078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83508FE-771B-4F2E-6181-220DD72A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C0A0E49-6D72-2CB6-9AAB-E4B201A69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A30A38E-0AE4-9B80-1E91-CA49B57C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260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B909DA-B669-C89B-C743-8D1E39C0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9D403C1-380B-E99B-B95B-64777361E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693EF3D-765A-9DDC-D6A7-3B7CDFE8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54E069A-11FB-589B-3B41-17CDED4B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AE1CBD1-DBEE-796A-814E-A5647738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9864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7474C21-2130-0A7D-7B71-8CAC17B31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3A8D0A5-F4F5-2039-0677-B75D45008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90ADBE-FBA8-D433-B1AC-73EBA28F7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DEE3A5D-17B5-FA0B-6540-C17CC3F6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316843F-7CBB-5C18-E9C5-4C8B47C0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192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E3B2FC3-61C8-2D12-424F-30CB0606C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D972722-2272-A8FF-6D36-BB566BB38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8B0D214-6D6C-9BCA-A798-1FFCD45B8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D19D0-B134-4430-A086-BCE11C72DF66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CDBDA8-AC8C-6DB6-FB38-861F06117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E575841-3D89-1EFB-B2E8-CE6AD330F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62132-EE3B-415A-B944-AC32EB5410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6010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A7069B-3BFF-6D7F-2D00-C9E0CE26E0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פרויקט עיצוב התנהגות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4A99918-FFC6-8996-0330-12C4EE58DA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הגדרות ארכיטקטורה 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32A952D-183C-9303-E13C-B52454B1D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3558"/>
            <a:ext cx="3656804" cy="389976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FEC14679-1927-DA05-A86E-381AB616BC97}"/>
              </a:ext>
            </a:extLst>
          </p:cNvPr>
          <p:cNvSpPr/>
          <p:nvPr/>
        </p:nvSpPr>
        <p:spPr>
          <a:xfrm>
            <a:off x="7393646" y="4475623"/>
            <a:ext cx="3946914" cy="196977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Sara Hartuv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</a:rPr>
              <a:t>sarahartuv1@gmail.com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 </a:t>
            </a:r>
          </a:p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10/12/25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adley Hand ITC" panose="03070402050302030203" pitchFamily="66" charset="0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58464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342808-8D00-A6DD-2F9C-BF5E357D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Architecture Overview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831CA07-2F8F-3ED5-65DB-913ECB666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Description:</a:t>
            </a:r>
          </a:p>
          <a:p>
            <a:pPr lvl="1" algn="l" rtl="0"/>
            <a:r>
              <a:rPr lang="en-US" dirty="0"/>
              <a:t>An educational platform designed to manage, monitor, and analyze students’ behavioral progress and excellence over time.</a:t>
            </a:r>
          </a:p>
          <a:p>
            <a:pPr algn="l" rtl="0"/>
            <a:r>
              <a:rPr lang="en-US" dirty="0"/>
              <a:t>Purpose:</a:t>
            </a:r>
          </a:p>
          <a:p>
            <a:pPr lvl="1" algn="l" rtl="0"/>
            <a:r>
              <a:rPr lang="en-US" dirty="0"/>
              <a:t>To provide a structured, data-driven system for tracking student progress, supporting positive behavior, and managing the allocation and redemption of rewards through a digital platform.</a:t>
            </a:r>
          </a:p>
          <a:p>
            <a:pPr algn="l" rtl="0"/>
            <a:r>
              <a:rPr lang="en-US" dirty="0"/>
              <a:t>Target Audience:</a:t>
            </a:r>
          </a:p>
          <a:p>
            <a:pPr lvl="1" algn="l" rtl="0"/>
            <a:r>
              <a:rPr lang="en-US" dirty="0"/>
              <a:t>Teaching staff</a:t>
            </a:r>
          </a:p>
          <a:p>
            <a:pPr lvl="1" algn="l" rtl="0"/>
            <a:r>
              <a:rPr lang="en-US" dirty="0"/>
              <a:t>Management and therapeutic teams</a:t>
            </a:r>
          </a:p>
          <a:p>
            <a:pPr lvl="1" algn="l" rtl="0"/>
            <a:r>
              <a:rPr lang="en-US" dirty="0"/>
              <a:t>Students</a:t>
            </a:r>
          </a:p>
        </p:txBody>
      </p:sp>
    </p:spTree>
    <p:extLst>
      <p:ext uri="{BB962C8B-B14F-4D97-AF65-F5344CB8AC3E}">
        <p14:creationId xmlns:p14="http://schemas.microsoft.com/office/powerpoint/2010/main" val="297151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158E94-E175-8916-A1A8-0A490AED0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Design Principles 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CB79BF0-3D7C-DB34-6462-AE4F08FBF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Separation of Concerns</a:t>
            </a:r>
          </a:p>
          <a:p>
            <a:pPr algn="l" rtl="0"/>
            <a:r>
              <a:rPr lang="en-US" dirty="0"/>
              <a:t>Business Logic on Backend</a:t>
            </a:r>
          </a:p>
          <a:p>
            <a:pPr algn="l" rtl="0"/>
            <a:r>
              <a:rPr lang="en-US" dirty="0"/>
              <a:t>Role-Based Access</a:t>
            </a:r>
          </a:p>
          <a:p>
            <a:pPr algn="l" rtl="0"/>
            <a:r>
              <a:rPr lang="en-US" dirty="0"/>
              <a:t>Data-driven decision making</a:t>
            </a:r>
          </a:p>
          <a:p>
            <a:pPr algn="l" rtl="0"/>
            <a:r>
              <a:rPr lang="en-US" dirty="0"/>
              <a:t>Scalability &amp; Future Expansion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9409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1802BD-8024-0460-152E-4BD49F25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High-Level Architecture 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FD332E7-9020-12AF-2DF1-FA22088C4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Frontend (React) - User interface and interaction</a:t>
            </a:r>
          </a:p>
          <a:p>
            <a:pPr algn="l" rtl="0"/>
            <a:r>
              <a:rPr lang="en-US" dirty="0"/>
              <a:t>Backend (Nose.js) – Educational logic and business rules</a:t>
            </a:r>
          </a:p>
          <a:p>
            <a:pPr algn="l" rtl="0"/>
            <a:r>
              <a:rPr lang="en-US" dirty="0"/>
              <a:t>Database (MongoDB) - Historical data storage and aggregated summaries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3919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F64FAE5-23DF-EF46-A2A3-0BC555FE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Frontend Architecture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C72D51A-C0DD-69D9-CC95-5D390365C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React + TypeScript + Vite</a:t>
            </a:r>
          </a:p>
          <a:p>
            <a:pPr algn="l" rtl="0"/>
            <a:r>
              <a:rPr lang="en-US" dirty="0"/>
              <a:t>Component-based UI</a:t>
            </a:r>
          </a:p>
          <a:p>
            <a:pPr algn="l" rtl="0"/>
            <a:r>
              <a:rPr lang="en-US" dirty="0"/>
              <a:t>Role-based screens</a:t>
            </a:r>
          </a:p>
          <a:p>
            <a:pPr algn="l" rtl="0"/>
            <a:r>
              <a:rPr lang="en-US" dirty="0"/>
              <a:t>No business logic on client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92712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AA14BC-8973-EF54-64CF-1E3FF4533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Backend Architecture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89ADBE1-1FDD-2C8D-2C4F-DF40C49DA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Node.js + TypeScript</a:t>
            </a:r>
          </a:p>
          <a:p>
            <a:pPr algn="l" rtl="0"/>
            <a:r>
              <a:rPr lang="en-US" dirty="0"/>
              <a:t>REST API</a:t>
            </a:r>
          </a:p>
          <a:p>
            <a:pPr algn="l" rtl="0"/>
            <a:r>
              <a:rPr lang="en-US" dirty="0"/>
              <a:t>Layered architecture:</a:t>
            </a:r>
          </a:p>
          <a:p>
            <a:pPr lvl="1" algn="l" rtl="0"/>
            <a:r>
              <a:rPr lang="en-US" dirty="0"/>
              <a:t>Controllers</a:t>
            </a:r>
          </a:p>
          <a:p>
            <a:pPr lvl="1" algn="l" rtl="0"/>
            <a:r>
              <a:rPr lang="en-US" dirty="0" err="1"/>
              <a:t>middlewares</a:t>
            </a:r>
            <a:endParaRPr lang="en-US" dirty="0"/>
          </a:p>
          <a:p>
            <a:pPr lvl="1" algn="l" rtl="0"/>
            <a:r>
              <a:rPr lang="en-US" dirty="0"/>
              <a:t>Services</a:t>
            </a:r>
          </a:p>
          <a:p>
            <a:pPr lvl="1" algn="l" rtl="0"/>
            <a:r>
              <a:rPr lang="en-US" dirty="0"/>
              <a:t>Repositories</a:t>
            </a:r>
          </a:p>
          <a:p>
            <a:pPr lvl="1" algn="l" rtl="0"/>
            <a:r>
              <a:rPr lang="en-US" dirty="0"/>
              <a:t>models</a:t>
            </a:r>
          </a:p>
          <a:p>
            <a:pPr lvl="1"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252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A576F0-7974-58CC-514B-260FD232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Data Architecture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863C2E-9D91-DA38-4058-BA3B692AF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Database: MongoDB</a:t>
            </a:r>
          </a:p>
          <a:p>
            <a:pPr algn="l" rtl="0"/>
            <a:r>
              <a:rPr lang="en-US" dirty="0"/>
              <a:t>Data Organization:</a:t>
            </a:r>
          </a:p>
          <a:p>
            <a:pPr lvl="1" algn="l" rtl="0"/>
            <a:r>
              <a:rPr lang="en-US" dirty="0"/>
              <a:t>Collections organized by functional domains</a:t>
            </a:r>
          </a:p>
          <a:p>
            <a:pPr algn="l" rtl="0"/>
            <a:r>
              <a:rPr lang="en-US" dirty="0"/>
              <a:t>Data Strategy:</a:t>
            </a:r>
          </a:p>
          <a:p>
            <a:pPr lvl="1" algn="l" rtl="0"/>
            <a:r>
              <a:rPr lang="en-US" dirty="0"/>
              <a:t>Separation between raw operational data and aggregated analytical data</a:t>
            </a:r>
          </a:p>
          <a:p>
            <a:pPr lvl="1" algn="l" rtl="0"/>
            <a:r>
              <a:rPr lang="en-US" dirty="0"/>
              <a:t>Raw data stores daily inputs (e.g. lesson scores, behavioral entries)</a:t>
            </a:r>
          </a:p>
          <a:p>
            <a:pPr lvl="1" algn="l" rtl="0"/>
            <a:r>
              <a:rPr lang="en-US" dirty="0"/>
              <a:t>Aggregated data stores pre-calculated summaries (e.g. weekly results, excellence status)</a:t>
            </a:r>
          </a:p>
          <a:p>
            <a:pPr algn="l" rtl="0"/>
            <a:r>
              <a:rPr lang="en-US" dirty="0"/>
              <a:t>Design Principle:</a:t>
            </a:r>
          </a:p>
          <a:p>
            <a:pPr lvl="1" algn="l" rtl="0"/>
            <a:r>
              <a:rPr lang="en-US" dirty="0"/>
              <a:t>Heavy computations are calculated once and stored as summaries</a:t>
            </a:r>
          </a:p>
          <a:p>
            <a:pPr lvl="1" algn="l" rtl="0"/>
            <a:r>
              <a:rPr lang="en-US" dirty="0"/>
              <a:t>Data is retrieved efficiently without recalculating on every request</a:t>
            </a:r>
          </a:p>
          <a:p>
            <a:pPr lvl="1" algn="l" rtl="0"/>
            <a:endParaRPr lang="en-US" dirty="0"/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03765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B5F8E3-C38B-FE44-B37A-1149C094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Core Domains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946C452-A274-1A2D-5C71-E3093DF6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Users &amp; Roles</a:t>
            </a:r>
          </a:p>
          <a:p>
            <a:pPr algn="l" rtl="0"/>
            <a:r>
              <a:rPr lang="en-US" dirty="0"/>
              <a:t>Classes &amp; Lessons</a:t>
            </a:r>
          </a:p>
          <a:p>
            <a:pPr algn="l" rtl="0"/>
            <a:r>
              <a:rPr lang="en-US" dirty="0"/>
              <a:t>Scoring &amp; Excellence</a:t>
            </a:r>
          </a:p>
          <a:p>
            <a:pPr algn="l" rtl="0"/>
            <a:r>
              <a:rPr lang="en-US" dirty="0"/>
              <a:t>Messaging &amp; Behavioral Reports</a:t>
            </a:r>
          </a:p>
          <a:p>
            <a:pPr algn="l" rtl="0"/>
            <a:r>
              <a:rPr lang="en-US" dirty="0"/>
              <a:t>Digital Kiosk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0216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2B20AB-388D-EA10-074B-94E83117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Security &amp; Permissions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69C527B-BF67-E09F-010A-F517E3B0A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Authentication (login)</a:t>
            </a:r>
          </a:p>
          <a:p>
            <a:pPr algn="l" rtl="0"/>
            <a:r>
              <a:rPr lang="en-US" dirty="0"/>
              <a:t>Authorization (roles)</a:t>
            </a:r>
          </a:p>
          <a:p>
            <a:pPr algn="l" rtl="0"/>
            <a:r>
              <a:rPr lang="en-US" dirty="0"/>
              <a:t>Data isolation per role</a:t>
            </a:r>
          </a:p>
          <a:p>
            <a:pPr algn="l" rtl="0"/>
            <a:r>
              <a:rPr lang="en-US" dirty="0"/>
              <a:t>Server-side validation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5359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AD387F-DB3E-F7CA-3FAB-DFCE8FED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Main Flows (User Flows)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65E7401-5698-228F-4D3D-7A5C4FD4F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Teacher enters daily scores</a:t>
            </a:r>
          </a:p>
          <a:p>
            <a:pPr algn="l" rtl="0"/>
            <a:r>
              <a:rPr lang="en-US" dirty="0"/>
              <a:t>Weekly excellence calculation</a:t>
            </a:r>
          </a:p>
          <a:p>
            <a:pPr algn="l" rtl="0"/>
            <a:r>
              <a:rPr lang="en-US" dirty="0"/>
              <a:t>Student views progress</a:t>
            </a:r>
          </a:p>
          <a:p>
            <a:pPr algn="l" rtl="0"/>
            <a:r>
              <a:rPr lang="en-US" dirty="0"/>
              <a:t>Voucher redemption in kiosk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48077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AB5676-B4BB-6366-46E1-C38FB5D4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Scalability &amp; Future Expansion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7172EAE-64C8-B283-6689-9AEE8FFBA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Modular backend</a:t>
            </a:r>
          </a:p>
          <a:p>
            <a:pPr algn="l" rtl="0"/>
            <a:r>
              <a:rPr lang="en-US" dirty="0"/>
              <a:t>Flexible data model</a:t>
            </a:r>
          </a:p>
          <a:p>
            <a:pPr algn="l" rtl="0"/>
            <a:r>
              <a:rPr lang="en-US" dirty="0"/>
              <a:t>Ready for:</a:t>
            </a:r>
          </a:p>
          <a:p>
            <a:pPr lvl="1" algn="l" rtl="0"/>
            <a:r>
              <a:rPr lang="en-US" dirty="0"/>
              <a:t>Management dashboards</a:t>
            </a:r>
          </a:p>
          <a:p>
            <a:pPr lvl="1" algn="l" rtl="0"/>
            <a:r>
              <a:rPr lang="en-US" dirty="0"/>
              <a:t>Advanced analytics</a:t>
            </a:r>
          </a:p>
          <a:p>
            <a:pPr lvl="1" algn="l" rtl="0"/>
            <a:r>
              <a:rPr lang="en-US" dirty="0"/>
              <a:t>AI-based insights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23436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AE14CC-0A82-B2A0-DE4D-C7080848B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Summary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D807DF7-D9A1-3E40-4410-0AACE37A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Clean separation of layers</a:t>
            </a:r>
            <a:endParaRPr lang="he-IL" dirty="0"/>
          </a:p>
          <a:p>
            <a:pPr algn="l" rtl="0"/>
            <a:r>
              <a:rPr lang="en-US" dirty="0"/>
              <a:t>Strong educational business logic</a:t>
            </a:r>
            <a:endParaRPr lang="he-IL" dirty="0"/>
          </a:p>
          <a:p>
            <a:pPr algn="l" rtl="0"/>
            <a:r>
              <a:rPr lang="en-US" dirty="0"/>
              <a:t>Data-driven system</a:t>
            </a:r>
            <a:endParaRPr lang="he-IL" dirty="0"/>
          </a:p>
          <a:p>
            <a:pPr algn="l" rtl="0"/>
            <a:r>
              <a:rPr lang="en-US" dirty="0"/>
              <a:t>Built for growth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The architecture supports both current needs and future educational growth.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1643013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338</Words>
  <Application>Microsoft Office PowerPoint</Application>
  <PresentationFormat>מסך רחב</PresentationFormat>
  <Paragraphs>78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7" baseType="lpstr">
      <vt:lpstr>Arial</vt:lpstr>
      <vt:lpstr>Bradley Hand ITC</vt:lpstr>
      <vt:lpstr>Calibri</vt:lpstr>
      <vt:lpstr>Calibri Light</vt:lpstr>
      <vt:lpstr>ערכת נושא Office</vt:lpstr>
      <vt:lpstr>פרויקט עיצוב התנהגות</vt:lpstr>
      <vt:lpstr>Architecture Overview</vt:lpstr>
      <vt:lpstr>Design Principles </vt:lpstr>
      <vt:lpstr>High-Level Architecture </vt:lpstr>
      <vt:lpstr>Frontend Architecture</vt:lpstr>
      <vt:lpstr>Backend Architecture</vt:lpstr>
      <vt:lpstr>Data Architecture</vt:lpstr>
      <vt:lpstr>Core Domains</vt:lpstr>
      <vt:lpstr>Security &amp; Permissions</vt:lpstr>
      <vt:lpstr>Main Flows (User Flows)</vt:lpstr>
      <vt:lpstr>Scalability &amp; Future Expansion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2025-12-10T22:02:56Z</dcterms:created>
  <dcterms:modified xsi:type="dcterms:W3CDTF">2026-02-04T11:38:03Z</dcterms:modified>
</cp:coreProperties>
</file>